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8" r:id="rId3"/>
    <p:sldId id="259" r:id="rId4"/>
    <p:sldId id="260" r:id="rId5"/>
    <p:sldId id="262" r:id="rId6"/>
    <p:sldId id="261" r:id="rId7"/>
    <p:sldId id="263" r:id="rId8"/>
    <p:sldId id="264" r:id="rId9"/>
    <p:sldId id="266" r:id="rId10"/>
    <p:sldId id="267" r:id="rId11"/>
    <p:sldId id="270" r:id="rId12"/>
    <p:sldId id="272" r:id="rId13"/>
    <p:sldId id="271" r:id="rId14"/>
    <p:sldId id="273" r:id="rId15"/>
    <p:sldId id="268" r:id="rId16"/>
    <p:sldId id="269"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9AA"/>
    <a:srgbClr val="6E7CB9"/>
    <a:srgbClr val="118DFF"/>
    <a:srgbClr val="0912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79" d="100"/>
          <a:sy n="79" d="100"/>
        </p:scale>
        <p:origin x="1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96360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2299127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244470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716881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B0449E-C4D0-449C-8603-64BDCA770AB2}"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1000092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B0449E-C4D0-449C-8603-64BDCA770AB2}"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4587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0449E-C4D0-449C-8603-64BDCA770AB2}"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227939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46997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730803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834824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D46807-6464-45FD-8666-A37C601B283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27811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3238506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D46807-6464-45FD-8666-A37C601B283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37264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2B0449E-C4D0-449C-8603-64BDCA770AB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2490648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1616450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0449E-C4D0-449C-8603-64BDCA770AB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D46807-6464-45FD-8666-A37C601B2831}" type="slidenum">
              <a:rPr lang="en-US" smtClean="0"/>
              <a:t>‹#›</a:t>
            </a:fld>
            <a:endParaRPr lang="en-US"/>
          </a:p>
        </p:txBody>
      </p:sp>
    </p:spTree>
    <p:extLst>
      <p:ext uri="{BB962C8B-B14F-4D97-AF65-F5344CB8AC3E}">
        <p14:creationId xmlns:p14="http://schemas.microsoft.com/office/powerpoint/2010/main" val="1096009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2B0449E-C4D0-449C-8603-64BDCA770AB2}" type="datetimeFigureOut">
              <a:rPr lang="en-US" smtClean="0"/>
              <a:t>2/22/2026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FD46807-6464-45FD-8666-A37C601B2831}" type="slidenum">
              <a:rPr lang="en-US" smtClean="0"/>
              <a:t>‹#›</a:t>
            </a:fld>
            <a:endParaRPr lang="en-US"/>
          </a:p>
        </p:txBody>
      </p:sp>
    </p:spTree>
    <p:extLst>
      <p:ext uri="{BB962C8B-B14F-4D97-AF65-F5344CB8AC3E}">
        <p14:creationId xmlns:p14="http://schemas.microsoft.com/office/powerpoint/2010/main" val="3327615601"/>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45F40E68-22A8-4820-8B4A-60E0092ADEDB}"/>
              </a:ext>
            </a:extLst>
          </p:cNvPr>
          <p:cNvSpPr txBox="1"/>
          <p:nvPr/>
        </p:nvSpPr>
        <p:spPr>
          <a:xfrm>
            <a:off x="7404100" y="1693784"/>
            <a:ext cx="4149981" cy="2123658"/>
          </a:xfrm>
          <a:prstGeom prst="rect">
            <a:avLst/>
          </a:prstGeom>
          <a:noFill/>
        </p:spPr>
        <p:txBody>
          <a:bodyPr wrap="square" rtlCol="0">
            <a:spAutoFit/>
          </a:bodyPr>
          <a:lstStyle/>
          <a:p>
            <a:pPr algn="ctr"/>
            <a:r>
              <a:rPr lang="en-US" sz="7200" b="1" dirty="0">
                <a:solidFill>
                  <a:schemeClr val="tx1">
                    <a:lumMod val="75000"/>
                    <a:lumOff val="25000"/>
                  </a:schemeClr>
                </a:solidFill>
                <a:latin typeface="Times New Roman" panose="02020603050405020304" pitchFamily="18" charset="0"/>
                <a:cs typeface="Times New Roman" panose="02020603050405020304" pitchFamily="18" charset="0"/>
              </a:rPr>
              <a:t>AURORA </a:t>
            </a:r>
            <a:r>
              <a:rPr lang="en-US" sz="6000" b="1" dirty="0">
                <a:solidFill>
                  <a:schemeClr val="tx1">
                    <a:lumMod val="75000"/>
                    <a:lumOff val="25000"/>
                  </a:schemeClr>
                </a:solidFill>
                <a:latin typeface="Times New Roman" panose="02020603050405020304" pitchFamily="18" charset="0"/>
                <a:cs typeface="Times New Roman" panose="02020603050405020304" pitchFamily="18" charset="0"/>
              </a:rPr>
              <a:t>BANK</a:t>
            </a:r>
            <a:endParaRPr lang="en-US" sz="6000" b="1"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11A54E0C-77D4-471E-B5F7-F0C1BBC01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862" y="125260"/>
            <a:ext cx="6573294" cy="6732740"/>
          </a:xfrm>
          <a:prstGeom prst="rect">
            <a:avLst/>
          </a:prstGeom>
        </p:spPr>
      </p:pic>
      <p:sp>
        <p:nvSpPr>
          <p:cNvPr id="26" name="TextBox 25">
            <a:extLst>
              <a:ext uri="{FF2B5EF4-FFF2-40B4-BE49-F238E27FC236}">
                <a16:creationId xmlns:a16="http://schemas.microsoft.com/office/drawing/2014/main" id="{F045969B-6372-4A94-8AB9-88DBB9740231}"/>
              </a:ext>
            </a:extLst>
          </p:cNvPr>
          <p:cNvSpPr txBox="1"/>
          <p:nvPr/>
        </p:nvSpPr>
        <p:spPr>
          <a:xfrm>
            <a:off x="7689551" y="4012558"/>
            <a:ext cx="4441037" cy="338554"/>
          </a:xfrm>
          <a:prstGeom prst="rect">
            <a:avLst/>
          </a:prstGeom>
          <a:noFill/>
        </p:spPr>
        <p:txBody>
          <a:bodyPr wrap="square" rtlCol="0">
            <a:spAutoFit/>
          </a:bodyPr>
          <a:lstStyle/>
          <a:p>
            <a:r>
              <a:rPr lang="en-US" sz="1600" dirty="0"/>
              <a:t>Secure Your Future, Grow your Wealth</a:t>
            </a:r>
          </a:p>
        </p:txBody>
      </p:sp>
      <p:sp>
        <p:nvSpPr>
          <p:cNvPr id="27" name="TextBox 26">
            <a:extLst>
              <a:ext uri="{FF2B5EF4-FFF2-40B4-BE49-F238E27FC236}">
                <a16:creationId xmlns:a16="http://schemas.microsoft.com/office/drawing/2014/main" id="{0488ECC8-057A-455E-8DD5-36497844E3A0}"/>
              </a:ext>
            </a:extLst>
          </p:cNvPr>
          <p:cNvSpPr txBox="1"/>
          <p:nvPr/>
        </p:nvSpPr>
        <p:spPr>
          <a:xfrm>
            <a:off x="8489229" y="5702300"/>
            <a:ext cx="2513829" cy="523220"/>
          </a:xfrm>
          <a:prstGeom prst="rect">
            <a:avLst/>
          </a:prstGeom>
          <a:noFill/>
        </p:spPr>
        <p:txBody>
          <a:bodyPr wrap="none" rtlCol="0">
            <a:spAutoFit/>
          </a:bodyPr>
          <a:lstStyle/>
          <a:p>
            <a:pPr algn="ctr"/>
            <a:r>
              <a:rPr lang="en-US" sz="1400" dirty="0"/>
              <a:t>Presented by</a:t>
            </a:r>
          </a:p>
          <a:p>
            <a:pPr algn="ctr"/>
            <a:r>
              <a:rPr lang="en-US" sz="1400" b="1" dirty="0"/>
              <a:t>Ihediohamma Confidence</a:t>
            </a:r>
          </a:p>
        </p:txBody>
      </p:sp>
    </p:spTree>
    <p:extLst>
      <p:ext uri="{BB962C8B-B14F-4D97-AF65-F5344CB8AC3E}">
        <p14:creationId xmlns:p14="http://schemas.microsoft.com/office/powerpoint/2010/main" val="2166784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A8E6A1-DD2A-4DB8-B455-5D71E68BE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1642" y="254000"/>
            <a:ext cx="6460357" cy="6146800"/>
          </a:xfrm>
          <a:prstGeom prst="rect">
            <a:avLst/>
          </a:prstGeom>
        </p:spPr>
      </p:pic>
      <p:sp>
        <p:nvSpPr>
          <p:cNvPr id="4" name="TextBox 3">
            <a:extLst>
              <a:ext uri="{FF2B5EF4-FFF2-40B4-BE49-F238E27FC236}">
                <a16:creationId xmlns:a16="http://schemas.microsoft.com/office/drawing/2014/main" id="{187BE937-0892-428B-9554-3465237D4642}"/>
              </a:ext>
            </a:extLst>
          </p:cNvPr>
          <p:cNvSpPr txBox="1"/>
          <p:nvPr/>
        </p:nvSpPr>
        <p:spPr>
          <a:xfrm>
            <a:off x="1653283" y="622626"/>
            <a:ext cx="4823756" cy="707886"/>
          </a:xfrm>
          <a:prstGeom prst="rect">
            <a:avLst/>
          </a:prstGeom>
          <a:noFill/>
        </p:spPr>
        <p:txBody>
          <a:bodyPr wrap="none" rtlCol="0">
            <a:spAutoFit/>
          </a:bodyPr>
          <a:lstStyle/>
          <a:p>
            <a:r>
              <a:rPr lang="en-US" sz="4000" b="1" dirty="0"/>
              <a:t>TABLE OF CONTENT</a:t>
            </a:r>
          </a:p>
        </p:txBody>
      </p:sp>
      <p:grpSp>
        <p:nvGrpSpPr>
          <p:cNvPr id="7" name="Group 6">
            <a:extLst>
              <a:ext uri="{FF2B5EF4-FFF2-40B4-BE49-F238E27FC236}">
                <a16:creationId xmlns:a16="http://schemas.microsoft.com/office/drawing/2014/main" id="{35077E16-05E4-49FB-8D09-0D4F9358FA76}"/>
              </a:ext>
            </a:extLst>
          </p:cNvPr>
          <p:cNvGrpSpPr/>
          <p:nvPr/>
        </p:nvGrpSpPr>
        <p:grpSpPr>
          <a:xfrm>
            <a:off x="1818982" y="2500352"/>
            <a:ext cx="2976507" cy="401598"/>
            <a:chOff x="1666582" y="2095500"/>
            <a:chExt cx="2976507" cy="401598"/>
          </a:xfrm>
        </p:grpSpPr>
        <p:sp>
          <p:nvSpPr>
            <p:cNvPr id="5" name="TextBox 4">
              <a:extLst>
                <a:ext uri="{FF2B5EF4-FFF2-40B4-BE49-F238E27FC236}">
                  <a16:creationId xmlns:a16="http://schemas.microsoft.com/office/drawing/2014/main" id="{03C47A58-1FC8-4184-9B69-D9FA24E95985}"/>
                </a:ext>
              </a:extLst>
            </p:cNvPr>
            <p:cNvSpPr txBox="1"/>
            <p:nvPr/>
          </p:nvSpPr>
          <p:spPr>
            <a:xfrm>
              <a:off x="2300781" y="2095500"/>
              <a:ext cx="2342308" cy="369332"/>
            </a:xfrm>
            <a:prstGeom prst="rect">
              <a:avLst/>
            </a:prstGeom>
            <a:noFill/>
          </p:spPr>
          <p:txBody>
            <a:bodyPr wrap="none" rtlCol="0">
              <a:spAutoFit/>
            </a:bodyPr>
            <a:lstStyle/>
            <a:p>
              <a:r>
                <a:rPr lang="en-US" dirty="0"/>
                <a:t>Problem Statement</a:t>
              </a:r>
            </a:p>
          </p:txBody>
        </p:sp>
        <p:sp>
          <p:nvSpPr>
            <p:cNvPr id="6" name="Diamond 5">
              <a:extLst>
                <a:ext uri="{FF2B5EF4-FFF2-40B4-BE49-F238E27FC236}">
                  <a16:creationId xmlns:a16="http://schemas.microsoft.com/office/drawing/2014/main" id="{7B23366F-966A-4A34-8602-F689F1BB7FA0}"/>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grpSp>
      <p:grpSp>
        <p:nvGrpSpPr>
          <p:cNvPr id="8" name="Group 7">
            <a:extLst>
              <a:ext uri="{FF2B5EF4-FFF2-40B4-BE49-F238E27FC236}">
                <a16:creationId xmlns:a16="http://schemas.microsoft.com/office/drawing/2014/main" id="{65A8AB1E-1128-4573-A1B9-1661DBEBC226}"/>
              </a:ext>
            </a:extLst>
          </p:cNvPr>
          <p:cNvGrpSpPr/>
          <p:nvPr/>
        </p:nvGrpSpPr>
        <p:grpSpPr>
          <a:xfrm>
            <a:off x="1818982" y="1868269"/>
            <a:ext cx="2176609" cy="401598"/>
            <a:chOff x="1666582" y="2095500"/>
            <a:chExt cx="2176609" cy="401598"/>
          </a:xfrm>
        </p:grpSpPr>
        <p:sp>
          <p:nvSpPr>
            <p:cNvPr id="9" name="TextBox 8">
              <a:extLst>
                <a:ext uri="{FF2B5EF4-FFF2-40B4-BE49-F238E27FC236}">
                  <a16:creationId xmlns:a16="http://schemas.microsoft.com/office/drawing/2014/main" id="{5CD1993C-A5DC-4098-8738-F3C84DE9F595}"/>
                </a:ext>
              </a:extLst>
            </p:cNvPr>
            <p:cNvSpPr txBox="1"/>
            <p:nvPr/>
          </p:nvSpPr>
          <p:spPr>
            <a:xfrm>
              <a:off x="2300781" y="2095500"/>
              <a:ext cx="1542410" cy="369332"/>
            </a:xfrm>
            <a:prstGeom prst="rect">
              <a:avLst/>
            </a:prstGeom>
            <a:noFill/>
          </p:spPr>
          <p:txBody>
            <a:bodyPr wrap="none" rtlCol="0">
              <a:spAutoFit/>
            </a:bodyPr>
            <a:lstStyle/>
            <a:p>
              <a:r>
                <a:rPr lang="en-US" dirty="0"/>
                <a:t>Introduction</a:t>
              </a:r>
            </a:p>
          </p:txBody>
        </p:sp>
        <p:sp>
          <p:nvSpPr>
            <p:cNvPr id="10" name="Diamond 9">
              <a:extLst>
                <a:ext uri="{FF2B5EF4-FFF2-40B4-BE49-F238E27FC236}">
                  <a16:creationId xmlns:a16="http://schemas.microsoft.com/office/drawing/2014/main" id="{23EE8F2C-0280-4B0F-A125-78DBEF2019B1}"/>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grpSp>
      <p:grpSp>
        <p:nvGrpSpPr>
          <p:cNvPr id="11" name="Group 10">
            <a:extLst>
              <a:ext uri="{FF2B5EF4-FFF2-40B4-BE49-F238E27FC236}">
                <a16:creationId xmlns:a16="http://schemas.microsoft.com/office/drawing/2014/main" id="{B9081BCC-0C7D-4646-B564-BB45DF3ED57F}"/>
              </a:ext>
            </a:extLst>
          </p:cNvPr>
          <p:cNvGrpSpPr/>
          <p:nvPr/>
        </p:nvGrpSpPr>
        <p:grpSpPr>
          <a:xfrm>
            <a:off x="1818982" y="3159204"/>
            <a:ext cx="3912661" cy="401598"/>
            <a:chOff x="1666582" y="2095500"/>
            <a:chExt cx="3912661" cy="401598"/>
          </a:xfrm>
        </p:grpSpPr>
        <p:sp>
          <p:nvSpPr>
            <p:cNvPr id="12" name="TextBox 11">
              <a:extLst>
                <a:ext uri="{FF2B5EF4-FFF2-40B4-BE49-F238E27FC236}">
                  <a16:creationId xmlns:a16="http://schemas.microsoft.com/office/drawing/2014/main" id="{654580AD-5910-49C5-ACDD-C34566A1CEBD}"/>
                </a:ext>
              </a:extLst>
            </p:cNvPr>
            <p:cNvSpPr txBox="1"/>
            <p:nvPr/>
          </p:nvSpPr>
          <p:spPr>
            <a:xfrm>
              <a:off x="2300781" y="2095500"/>
              <a:ext cx="3278462" cy="369332"/>
            </a:xfrm>
            <a:prstGeom prst="rect">
              <a:avLst/>
            </a:prstGeom>
            <a:noFill/>
          </p:spPr>
          <p:txBody>
            <a:bodyPr wrap="none" rtlCol="0">
              <a:spAutoFit/>
            </a:bodyPr>
            <a:lstStyle/>
            <a:p>
              <a:r>
                <a:rPr lang="en-US" dirty="0"/>
                <a:t>Key Performance Indicators</a:t>
              </a:r>
            </a:p>
          </p:txBody>
        </p:sp>
        <p:sp>
          <p:nvSpPr>
            <p:cNvPr id="13" name="Diamond 12">
              <a:extLst>
                <a:ext uri="{FF2B5EF4-FFF2-40B4-BE49-F238E27FC236}">
                  <a16:creationId xmlns:a16="http://schemas.microsoft.com/office/drawing/2014/main" id="{1B5088FF-DDB8-4DCF-BB81-D305758C628A}"/>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grpSp>
      <p:grpSp>
        <p:nvGrpSpPr>
          <p:cNvPr id="14" name="Group 13">
            <a:extLst>
              <a:ext uri="{FF2B5EF4-FFF2-40B4-BE49-F238E27FC236}">
                <a16:creationId xmlns:a16="http://schemas.microsoft.com/office/drawing/2014/main" id="{81CD6EE0-1E0F-41F8-A2B4-EB68750FFDC4}"/>
              </a:ext>
            </a:extLst>
          </p:cNvPr>
          <p:cNvGrpSpPr/>
          <p:nvPr/>
        </p:nvGrpSpPr>
        <p:grpSpPr>
          <a:xfrm>
            <a:off x="1818982" y="3818056"/>
            <a:ext cx="4263719" cy="401598"/>
            <a:chOff x="1666582" y="2095500"/>
            <a:chExt cx="4263719" cy="401598"/>
          </a:xfrm>
        </p:grpSpPr>
        <p:sp>
          <p:nvSpPr>
            <p:cNvPr id="15" name="TextBox 14">
              <a:extLst>
                <a:ext uri="{FF2B5EF4-FFF2-40B4-BE49-F238E27FC236}">
                  <a16:creationId xmlns:a16="http://schemas.microsoft.com/office/drawing/2014/main" id="{06495E26-7833-400E-9EF9-1603B0798B15}"/>
                </a:ext>
              </a:extLst>
            </p:cNvPr>
            <p:cNvSpPr txBox="1"/>
            <p:nvPr/>
          </p:nvSpPr>
          <p:spPr>
            <a:xfrm>
              <a:off x="2300781" y="2095500"/>
              <a:ext cx="3629520" cy="369332"/>
            </a:xfrm>
            <a:prstGeom prst="rect">
              <a:avLst/>
            </a:prstGeom>
            <a:noFill/>
          </p:spPr>
          <p:txBody>
            <a:bodyPr wrap="none" rtlCol="0">
              <a:spAutoFit/>
            </a:bodyPr>
            <a:lstStyle/>
            <a:p>
              <a:r>
                <a:rPr lang="en-US" dirty="0"/>
                <a:t>Data Analysis and Key Findings</a:t>
              </a:r>
            </a:p>
          </p:txBody>
        </p:sp>
        <p:sp>
          <p:nvSpPr>
            <p:cNvPr id="16" name="Diamond 15">
              <a:extLst>
                <a:ext uri="{FF2B5EF4-FFF2-40B4-BE49-F238E27FC236}">
                  <a16:creationId xmlns:a16="http://schemas.microsoft.com/office/drawing/2014/main" id="{2E8A4D95-CFEF-43EA-82B5-54D49D00CBAC}"/>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grpSp>
      <p:grpSp>
        <p:nvGrpSpPr>
          <p:cNvPr id="17" name="Group 16">
            <a:extLst>
              <a:ext uri="{FF2B5EF4-FFF2-40B4-BE49-F238E27FC236}">
                <a16:creationId xmlns:a16="http://schemas.microsoft.com/office/drawing/2014/main" id="{246C4940-8FA0-4144-B323-7B50AB60113A}"/>
              </a:ext>
            </a:extLst>
          </p:cNvPr>
          <p:cNvGrpSpPr/>
          <p:nvPr/>
        </p:nvGrpSpPr>
        <p:grpSpPr>
          <a:xfrm>
            <a:off x="1818982" y="4444642"/>
            <a:ext cx="2865900" cy="401598"/>
            <a:chOff x="1666582" y="2095500"/>
            <a:chExt cx="2865900" cy="401598"/>
          </a:xfrm>
        </p:grpSpPr>
        <p:sp>
          <p:nvSpPr>
            <p:cNvPr id="18" name="TextBox 17">
              <a:extLst>
                <a:ext uri="{FF2B5EF4-FFF2-40B4-BE49-F238E27FC236}">
                  <a16:creationId xmlns:a16="http://schemas.microsoft.com/office/drawing/2014/main" id="{E314A959-942E-4C44-95C4-58141B16E364}"/>
                </a:ext>
              </a:extLst>
            </p:cNvPr>
            <p:cNvSpPr txBox="1"/>
            <p:nvPr/>
          </p:nvSpPr>
          <p:spPr>
            <a:xfrm>
              <a:off x="2300781" y="2095500"/>
              <a:ext cx="2231701" cy="369332"/>
            </a:xfrm>
            <a:prstGeom prst="rect">
              <a:avLst/>
            </a:prstGeom>
            <a:noFill/>
          </p:spPr>
          <p:txBody>
            <a:bodyPr wrap="none" rtlCol="0">
              <a:spAutoFit/>
            </a:bodyPr>
            <a:lstStyle/>
            <a:p>
              <a:r>
                <a:rPr lang="en-US" dirty="0"/>
                <a:t>Recommendation</a:t>
              </a:r>
            </a:p>
          </p:txBody>
        </p:sp>
        <p:sp>
          <p:nvSpPr>
            <p:cNvPr id="19" name="Diamond 18">
              <a:extLst>
                <a:ext uri="{FF2B5EF4-FFF2-40B4-BE49-F238E27FC236}">
                  <a16:creationId xmlns:a16="http://schemas.microsoft.com/office/drawing/2014/main" id="{4613EE75-180B-4631-B9CC-045494CB72D0}"/>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grpSp>
      <p:grpSp>
        <p:nvGrpSpPr>
          <p:cNvPr id="20" name="Group 19">
            <a:extLst>
              <a:ext uri="{FF2B5EF4-FFF2-40B4-BE49-F238E27FC236}">
                <a16:creationId xmlns:a16="http://schemas.microsoft.com/office/drawing/2014/main" id="{AEBDF0CB-05BA-43F4-B591-F7095979308E}"/>
              </a:ext>
            </a:extLst>
          </p:cNvPr>
          <p:cNvGrpSpPr/>
          <p:nvPr/>
        </p:nvGrpSpPr>
        <p:grpSpPr>
          <a:xfrm>
            <a:off x="1847264" y="5071228"/>
            <a:ext cx="2062795" cy="401598"/>
            <a:chOff x="1666582" y="2095500"/>
            <a:chExt cx="2062795" cy="401598"/>
          </a:xfrm>
        </p:grpSpPr>
        <p:sp>
          <p:nvSpPr>
            <p:cNvPr id="21" name="TextBox 20">
              <a:extLst>
                <a:ext uri="{FF2B5EF4-FFF2-40B4-BE49-F238E27FC236}">
                  <a16:creationId xmlns:a16="http://schemas.microsoft.com/office/drawing/2014/main" id="{8364C15B-E65E-4BED-BE38-204B6EDC34AB}"/>
                </a:ext>
              </a:extLst>
            </p:cNvPr>
            <p:cNvSpPr txBox="1"/>
            <p:nvPr/>
          </p:nvSpPr>
          <p:spPr>
            <a:xfrm>
              <a:off x="2300781" y="2095500"/>
              <a:ext cx="1428596" cy="369332"/>
            </a:xfrm>
            <a:prstGeom prst="rect">
              <a:avLst/>
            </a:prstGeom>
            <a:noFill/>
          </p:spPr>
          <p:txBody>
            <a:bodyPr wrap="none" rtlCol="0">
              <a:spAutoFit/>
            </a:bodyPr>
            <a:lstStyle/>
            <a:p>
              <a:r>
                <a:rPr lang="en-US" dirty="0"/>
                <a:t>Conclusion</a:t>
              </a:r>
            </a:p>
          </p:txBody>
        </p:sp>
        <p:sp>
          <p:nvSpPr>
            <p:cNvPr id="22" name="Diamond 21">
              <a:extLst>
                <a:ext uri="{FF2B5EF4-FFF2-40B4-BE49-F238E27FC236}">
                  <a16:creationId xmlns:a16="http://schemas.microsoft.com/office/drawing/2014/main" id="{8464D3CD-EC4A-4147-B635-70AA310D1E82}"/>
                </a:ext>
              </a:extLst>
            </p:cNvPr>
            <p:cNvSpPr/>
            <p:nvPr/>
          </p:nvSpPr>
          <p:spPr>
            <a:xfrm>
              <a:off x="1666582" y="2095500"/>
              <a:ext cx="441618" cy="40159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6</a:t>
              </a:r>
            </a:p>
          </p:txBody>
        </p:sp>
      </p:grpSp>
      <p:sp>
        <p:nvSpPr>
          <p:cNvPr id="23" name="Rectangle 22">
            <a:extLst>
              <a:ext uri="{FF2B5EF4-FFF2-40B4-BE49-F238E27FC236}">
                <a16:creationId xmlns:a16="http://schemas.microsoft.com/office/drawing/2014/main" id="{84422AA5-090F-4DE6-8706-391E98C410C7}"/>
              </a:ext>
            </a:extLst>
          </p:cNvPr>
          <p:cNvSpPr/>
          <p:nvPr/>
        </p:nvSpPr>
        <p:spPr>
          <a:xfrm>
            <a:off x="7378700" y="622626"/>
            <a:ext cx="3176698" cy="1104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3006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5CB2FE-F02F-4008-8B4F-73A293CB3587}"/>
              </a:ext>
            </a:extLst>
          </p:cNvPr>
          <p:cNvSpPr/>
          <p:nvPr/>
        </p:nvSpPr>
        <p:spPr>
          <a:xfrm>
            <a:off x="0" y="1189973"/>
            <a:ext cx="12192000" cy="5668027"/>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EBEE4-16AF-457C-9B6E-4AD5690FDBEB}"/>
              </a:ext>
            </a:extLst>
          </p:cNvPr>
          <p:cNvSpPr>
            <a:spLocks noGrp="1"/>
          </p:cNvSpPr>
          <p:nvPr>
            <p:ph type="title"/>
          </p:nvPr>
        </p:nvSpPr>
        <p:spPr>
          <a:xfrm>
            <a:off x="4204762" y="509810"/>
            <a:ext cx="3782476" cy="810990"/>
          </a:xfrm>
        </p:spPr>
        <p:txBody>
          <a:bodyPr/>
          <a:lstStyle/>
          <a:p>
            <a:pPr algn="ctr"/>
            <a:r>
              <a:rPr lang="en-US" b="1" dirty="0">
                <a:solidFill>
                  <a:schemeClr val="tx1"/>
                </a:solidFill>
              </a:rPr>
              <a:t>INTRODUCTION</a:t>
            </a:r>
          </a:p>
        </p:txBody>
      </p:sp>
      <p:sp>
        <p:nvSpPr>
          <p:cNvPr id="3" name="TextBox 2">
            <a:extLst>
              <a:ext uri="{FF2B5EF4-FFF2-40B4-BE49-F238E27FC236}">
                <a16:creationId xmlns:a16="http://schemas.microsoft.com/office/drawing/2014/main" id="{A752B873-CC35-4014-95E5-73EED633A919}"/>
              </a:ext>
            </a:extLst>
          </p:cNvPr>
          <p:cNvSpPr txBox="1"/>
          <p:nvPr/>
        </p:nvSpPr>
        <p:spPr>
          <a:xfrm>
            <a:off x="1565754" y="1603332"/>
            <a:ext cx="9369468" cy="3985706"/>
          </a:xfrm>
          <a:prstGeom prst="rect">
            <a:avLst/>
          </a:prstGeom>
          <a:noFill/>
        </p:spPr>
        <p:txBody>
          <a:bodyPr wrap="square" rtlCol="0">
            <a:spAutoFit/>
          </a:bodyPr>
          <a:lstStyle/>
          <a:p>
            <a:pPr algn="just"/>
            <a:r>
              <a:rPr lang="en-US" sz="2300" dirty="0"/>
              <a:t>The Aurora Banking institution aims to gain insights into customer behavior, transaction patterns, and financial performance. This analysis will provide a comprehensive understanding of the bank's operations. By examining card transactions, customer demographics, and financial data, the bank can identify areas for improvement. The goal is to inform business decisions with data-driven insights. This analysis will help Aurora Bank optimize its operations, improve customer satisfaction, and reduce risk. The analysis will focus on transaction trends, customer behavior, and financial performance. It will provide actionable recommendations to enhance the bank's overall performance.</a:t>
            </a:r>
          </a:p>
        </p:txBody>
      </p:sp>
    </p:spTree>
    <p:extLst>
      <p:ext uri="{BB962C8B-B14F-4D97-AF65-F5344CB8AC3E}">
        <p14:creationId xmlns:p14="http://schemas.microsoft.com/office/powerpoint/2010/main" val="350665229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BF1019-08D8-4E2F-B094-1349C51D0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00274854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26116D-AD8D-4D7A-8D10-593325E20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2796358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E1A59E-7798-4B0C-9FB8-1FECB52BA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4076868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1EC486-686B-0447-DF2E-CD0DA4E4F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954560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AC611C-E3E7-4584-A4EC-7FF478BC1069}"/>
              </a:ext>
            </a:extLst>
          </p:cNvPr>
          <p:cNvSpPr/>
          <p:nvPr/>
        </p:nvSpPr>
        <p:spPr>
          <a:xfrm>
            <a:off x="0" y="1215025"/>
            <a:ext cx="12192000" cy="5642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187BE937-0892-428B-9554-3465237D4642}"/>
              </a:ext>
            </a:extLst>
          </p:cNvPr>
          <p:cNvSpPr txBox="1"/>
          <p:nvPr/>
        </p:nvSpPr>
        <p:spPr>
          <a:xfrm>
            <a:off x="1653283" y="622626"/>
            <a:ext cx="5261377" cy="707886"/>
          </a:xfrm>
          <a:prstGeom prst="rect">
            <a:avLst/>
          </a:prstGeom>
          <a:noFill/>
        </p:spPr>
        <p:txBody>
          <a:bodyPr wrap="none" rtlCol="0">
            <a:spAutoFit/>
          </a:bodyPr>
          <a:lstStyle/>
          <a:p>
            <a:r>
              <a:rPr lang="en-US" sz="4000" b="1" dirty="0"/>
              <a:t>PROBLEM STATEMENT</a:t>
            </a:r>
          </a:p>
        </p:txBody>
      </p:sp>
      <p:sp>
        <p:nvSpPr>
          <p:cNvPr id="25" name="TextBox 24">
            <a:extLst>
              <a:ext uri="{FF2B5EF4-FFF2-40B4-BE49-F238E27FC236}">
                <a16:creationId xmlns:a16="http://schemas.microsoft.com/office/drawing/2014/main" id="{98BF181D-3822-4DF9-916E-29024462D524}"/>
              </a:ext>
            </a:extLst>
          </p:cNvPr>
          <p:cNvSpPr txBox="1"/>
          <p:nvPr/>
        </p:nvSpPr>
        <p:spPr>
          <a:xfrm>
            <a:off x="1500090" y="1727200"/>
            <a:ext cx="9215535" cy="4293483"/>
          </a:xfrm>
          <a:prstGeom prst="rect">
            <a:avLst/>
          </a:prstGeom>
          <a:noFill/>
        </p:spPr>
        <p:txBody>
          <a:bodyPr wrap="square" rtlCol="0">
            <a:spAutoFit/>
          </a:bodyPr>
          <a:lstStyle/>
          <a:p>
            <a:pPr algn="just"/>
            <a:r>
              <a:rPr lang="en-US" sz="2100" dirty="0"/>
              <a:t>Aurora Bank faces significant challenges due to limited visibility into customer behavior, transaction patterns, and financial performance. This lack of insight hinders the bank's ability to understand customer needs and preferences, identify trends, and monitor debt and risk exposure. As a result, the bank is exposed to potential losses due to ineffective risk management and makes suboptimal business decisions. Furthermore, the bank misses opportunities for growth due to its inability to capitalize on data-driven insights. This analysis will provide actionable insights to inform strategic decisions and mitigate potential risks. By leveraging these insights, the bank can drive business growth, improve customer satisfaction, and reduce risk. Ultimately, this will enable the bank to improve its competitiveness and drive sustainable growth. </a:t>
            </a:r>
          </a:p>
        </p:txBody>
      </p:sp>
    </p:spTree>
    <p:extLst>
      <p:ext uri="{BB962C8B-B14F-4D97-AF65-F5344CB8AC3E}">
        <p14:creationId xmlns:p14="http://schemas.microsoft.com/office/powerpoint/2010/main" val="865384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7BE937-0892-428B-9554-3465237D4642}"/>
              </a:ext>
            </a:extLst>
          </p:cNvPr>
          <p:cNvSpPr txBox="1"/>
          <p:nvPr/>
        </p:nvSpPr>
        <p:spPr>
          <a:xfrm>
            <a:off x="1653283" y="622626"/>
            <a:ext cx="8108310" cy="707886"/>
          </a:xfrm>
          <a:prstGeom prst="rect">
            <a:avLst/>
          </a:prstGeom>
          <a:noFill/>
        </p:spPr>
        <p:txBody>
          <a:bodyPr wrap="none" rtlCol="0">
            <a:spAutoFit/>
          </a:bodyPr>
          <a:lstStyle/>
          <a:p>
            <a:r>
              <a:rPr lang="en-US" sz="4000" b="1" dirty="0"/>
              <a:t>KEY PERFORMANCE INDICATORS</a:t>
            </a:r>
          </a:p>
        </p:txBody>
      </p:sp>
      <p:pic>
        <p:nvPicPr>
          <p:cNvPr id="24" name="Picture 23">
            <a:extLst>
              <a:ext uri="{FF2B5EF4-FFF2-40B4-BE49-F238E27FC236}">
                <a16:creationId xmlns:a16="http://schemas.microsoft.com/office/drawing/2014/main" id="{80E04580-D36B-4301-B367-A7803C0EA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3820" y="1408421"/>
            <a:ext cx="3782186" cy="3542367"/>
          </a:xfrm>
          <a:prstGeom prst="rect">
            <a:avLst/>
          </a:prstGeom>
        </p:spPr>
      </p:pic>
      <p:grpSp>
        <p:nvGrpSpPr>
          <p:cNvPr id="26" name="Group 25">
            <a:extLst>
              <a:ext uri="{FF2B5EF4-FFF2-40B4-BE49-F238E27FC236}">
                <a16:creationId xmlns:a16="http://schemas.microsoft.com/office/drawing/2014/main" id="{33DDDBB7-1D85-44BA-902D-E5E3FDAF4CAB}"/>
              </a:ext>
            </a:extLst>
          </p:cNvPr>
          <p:cNvGrpSpPr/>
          <p:nvPr/>
        </p:nvGrpSpPr>
        <p:grpSpPr>
          <a:xfrm>
            <a:off x="2033734" y="1804316"/>
            <a:ext cx="3912484" cy="587418"/>
            <a:chOff x="1849489" y="1917786"/>
            <a:chExt cx="4513641" cy="677109"/>
          </a:xfrm>
        </p:grpSpPr>
        <p:sp>
          <p:nvSpPr>
            <p:cNvPr id="9" name="TextBox 8">
              <a:extLst>
                <a:ext uri="{FF2B5EF4-FFF2-40B4-BE49-F238E27FC236}">
                  <a16:creationId xmlns:a16="http://schemas.microsoft.com/office/drawing/2014/main" id="{5CD1993C-A5DC-4098-8738-F3C84DE9F595}"/>
                </a:ext>
              </a:extLst>
            </p:cNvPr>
            <p:cNvSpPr txBox="1"/>
            <p:nvPr/>
          </p:nvSpPr>
          <p:spPr>
            <a:xfrm>
              <a:off x="2467512" y="1917786"/>
              <a:ext cx="1372492" cy="338554"/>
            </a:xfrm>
            <a:prstGeom prst="rect">
              <a:avLst/>
            </a:prstGeom>
            <a:noFill/>
          </p:spPr>
          <p:txBody>
            <a:bodyPr wrap="none" rtlCol="0">
              <a:spAutoFit/>
            </a:bodyPr>
            <a:lstStyle/>
            <a:p>
              <a:r>
                <a:rPr lang="en-US" sz="1600" b="1" dirty="0"/>
                <a:t>Total Clients</a:t>
              </a:r>
            </a:p>
          </p:txBody>
        </p:sp>
        <p:pic>
          <p:nvPicPr>
            <p:cNvPr id="25" name="Picture 24">
              <a:extLst>
                <a:ext uri="{FF2B5EF4-FFF2-40B4-BE49-F238E27FC236}">
                  <a16:creationId xmlns:a16="http://schemas.microsoft.com/office/drawing/2014/main" id="{F4CB7862-A28F-45F2-8970-27C7D39A0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89" y="2043787"/>
              <a:ext cx="425106" cy="425106"/>
            </a:xfrm>
            <a:prstGeom prst="rect">
              <a:avLst/>
            </a:prstGeom>
          </p:spPr>
        </p:pic>
        <p:sp>
          <p:nvSpPr>
            <p:cNvPr id="2" name="TextBox 1">
              <a:extLst>
                <a:ext uri="{FF2B5EF4-FFF2-40B4-BE49-F238E27FC236}">
                  <a16:creationId xmlns:a16="http://schemas.microsoft.com/office/drawing/2014/main" id="{89C3D25E-5FBD-4CE3-A68E-5B04ACA8D12E}"/>
                </a:ext>
              </a:extLst>
            </p:cNvPr>
            <p:cNvSpPr txBox="1"/>
            <p:nvPr/>
          </p:nvSpPr>
          <p:spPr>
            <a:xfrm>
              <a:off x="2467512" y="2287118"/>
              <a:ext cx="3895618" cy="307777"/>
            </a:xfrm>
            <a:prstGeom prst="rect">
              <a:avLst/>
            </a:prstGeom>
            <a:noFill/>
          </p:spPr>
          <p:txBody>
            <a:bodyPr wrap="none" rtlCol="0">
              <a:spAutoFit/>
            </a:bodyPr>
            <a:lstStyle/>
            <a:p>
              <a:r>
                <a:rPr lang="en-US" sz="1400" dirty="0"/>
                <a:t>This is the total number of active customers</a:t>
              </a:r>
            </a:p>
          </p:txBody>
        </p:sp>
      </p:grpSp>
      <p:grpSp>
        <p:nvGrpSpPr>
          <p:cNvPr id="28" name="Group 27">
            <a:extLst>
              <a:ext uri="{FF2B5EF4-FFF2-40B4-BE49-F238E27FC236}">
                <a16:creationId xmlns:a16="http://schemas.microsoft.com/office/drawing/2014/main" id="{DFEFDCEF-9F0A-4A76-A3D8-9F3C850BC4F7}"/>
              </a:ext>
            </a:extLst>
          </p:cNvPr>
          <p:cNvGrpSpPr/>
          <p:nvPr/>
        </p:nvGrpSpPr>
        <p:grpSpPr>
          <a:xfrm>
            <a:off x="2033734" y="3560130"/>
            <a:ext cx="4075463" cy="628188"/>
            <a:chOff x="1849489" y="1917786"/>
            <a:chExt cx="4701659" cy="724104"/>
          </a:xfrm>
        </p:grpSpPr>
        <p:sp>
          <p:nvSpPr>
            <p:cNvPr id="29" name="TextBox 28">
              <a:extLst>
                <a:ext uri="{FF2B5EF4-FFF2-40B4-BE49-F238E27FC236}">
                  <a16:creationId xmlns:a16="http://schemas.microsoft.com/office/drawing/2014/main" id="{0AF45774-629F-4D54-BF74-4F3ED3470317}"/>
                </a:ext>
              </a:extLst>
            </p:cNvPr>
            <p:cNvSpPr txBox="1"/>
            <p:nvPr/>
          </p:nvSpPr>
          <p:spPr>
            <a:xfrm>
              <a:off x="2467513" y="1917786"/>
              <a:ext cx="2480290" cy="390247"/>
            </a:xfrm>
            <a:prstGeom prst="rect">
              <a:avLst/>
            </a:prstGeom>
            <a:noFill/>
          </p:spPr>
          <p:txBody>
            <a:bodyPr wrap="none" rtlCol="0">
              <a:spAutoFit/>
            </a:bodyPr>
            <a:lstStyle/>
            <a:p>
              <a:r>
                <a:rPr lang="en-US" sz="1600" b="1" dirty="0"/>
                <a:t>Transaction Volume</a:t>
              </a:r>
            </a:p>
          </p:txBody>
        </p:sp>
        <p:pic>
          <p:nvPicPr>
            <p:cNvPr id="30" name="Picture 29">
              <a:extLst>
                <a:ext uri="{FF2B5EF4-FFF2-40B4-BE49-F238E27FC236}">
                  <a16:creationId xmlns:a16="http://schemas.microsoft.com/office/drawing/2014/main" id="{9EF457F7-0099-42C7-965E-E2920205A9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89" y="2043787"/>
              <a:ext cx="425106" cy="425106"/>
            </a:xfrm>
            <a:prstGeom prst="rect">
              <a:avLst/>
            </a:prstGeom>
          </p:spPr>
        </p:pic>
        <p:sp>
          <p:nvSpPr>
            <p:cNvPr id="31" name="TextBox 30">
              <a:extLst>
                <a:ext uri="{FF2B5EF4-FFF2-40B4-BE49-F238E27FC236}">
                  <a16:creationId xmlns:a16="http://schemas.microsoft.com/office/drawing/2014/main" id="{9C461EB8-ED88-4DBF-8D47-0F4BE96858CB}"/>
                </a:ext>
              </a:extLst>
            </p:cNvPr>
            <p:cNvSpPr txBox="1"/>
            <p:nvPr/>
          </p:nvSpPr>
          <p:spPr>
            <a:xfrm>
              <a:off x="2467512" y="2287120"/>
              <a:ext cx="4083636" cy="354770"/>
            </a:xfrm>
            <a:prstGeom prst="rect">
              <a:avLst/>
            </a:prstGeom>
            <a:noFill/>
          </p:spPr>
          <p:txBody>
            <a:bodyPr wrap="none" rtlCol="0">
              <a:spAutoFit/>
            </a:bodyPr>
            <a:lstStyle/>
            <a:p>
              <a:r>
                <a:rPr lang="en-US" sz="1400" dirty="0"/>
                <a:t>The number of transactions processed </a:t>
              </a:r>
            </a:p>
          </p:txBody>
        </p:sp>
      </p:grpSp>
      <p:grpSp>
        <p:nvGrpSpPr>
          <p:cNvPr id="32" name="Group 31">
            <a:extLst>
              <a:ext uri="{FF2B5EF4-FFF2-40B4-BE49-F238E27FC236}">
                <a16:creationId xmlns:a16="http://schemas.microsoft.com/office/drawing/2014/main" id="{C64DED35-BAA7-4013-AD62-4AA031C36780}"/>
              </a:ext>
            </a:extLst>
          </p:cNvPr>
          <p:cNvGrpSpPr/>
          <p:nvPr/>
        </p:nvGrpSpPr>
        <p:grpSpPr>
          <a:xfrm>
            <a:off x="2033734" y="2611531"/>
            <a:ext cx="5165505" cy="628188"/>
            <a:chOff x="1849489" y="1917786"/>
            <a:chExt cx="5959186" cy="724104"/>
          </a:xfrm>
        </p:grpSpPr>
        <p:sp>
          <p:nvSpPr>
            <p:cNvPr id="33" name="TextBox 32">
              <a:extLst>
                <a:ext uri="{FF2B5EF4-FFF2-40B4-BE49-F238E27FC236}">
                  <a16:creationId xmlns:a16="http://schemas.microsoft.com/office/drawing/2014/main" id="{EE0AF791-F1D3-4ABD-9E2C-881CC8A8AE05}"/>
                </a:ext>
              </a:extLst>
            </p:cNvPr>
            <p:cNvSpPr txBox="1"/>
            <p:nvPr/>
          </p:nvSpPr>
          <p:spPr>
            <a:xfrm>
              <a:off x="2467513" y="1917786"/>
              <a:ext cx="2286113" cy="390247"/>
            </a:xfrm>
            <a:prstGeom prst="rect">
              <a:avLst/>
            </a:prstGeom>
            <a:noFill/>
          </p:spPr>
          <p:txBody>
            <a:bodyPr wrap="none" rtlCol="0">
              <a:spAutoFit/>
            </a:bodyPr>
            <a:lstStyle/>
            <a:p>
              <a:r>
                <a:rPr lang="en-US" sz="1600" b="1" dirty="0"/>
                <a:t>Total Cards Issued</a:t>
              </a:r>
            </a:p>
          </p:txBody>
        </p:sp>
        <p:pic>
          <p:nvPicPr>
            <p:cNvPr id="34" name="Picture 33">
              <a:extLst>
                <a:ext uri="{FF2B5EF4-FFF2-40B4-BE49-F238E27FC236}">
                  <a16:creationId xmlns:a16="http://schemas.microsoft.com/office/drawing/2014/main" id="{688EC5F1-D5B6-40E1-9A5F-C2CE302115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89" y="2043787"/>
              <a:ext cx="425106" cy="425106"/>
            </a:xfrm>
            <a:prstGeom prst="rect">
              <a:avLst/>
            </a:prstGeom>
          </p:spPr>
        </p:pic>
        <p:sp>
          <p:nvSpPr>
            <p:cNvPr id="35" name="TextBox 34">
              <a:extLst>
                <a:ext uri="{FF2B5EF4-FFF2-40B4-BE49-F238E27FC236}">
                  <a16:creationId xmlns:a16="http://schemas.microsoft.com/office/drawing/2014/main" id="{D2897709-7C05-4DFD-86ED-7F155EEC6DCB}"/>
                </a:ext>
              </a:extLst>
            </p:cNvPr>
            <p:cNvSpPr txBox="1"/>
            <p:nvPr/>
          </p:nvSpPr>
          <p:spPr>
            <a:xfrm>
              <a:off x="2467512" y="2287120"/>
              <a:ext cx="5341163" cy="354770"/>
            </a:xfrm>
            <a:prstGeom prst="rect">
              <a:avLst/>
            </a:prstGeom>
            <a:noFill/>
          </p:spPr>
          <p:txBody>
            <a:bodyPr wrap="none" rtlCol="0">
              <a:spAutoFit/>
            </a:bodyPr>
            <a:lstStyle/>
            <a:p>
              <a:r>
                <a:rPr lang="en-US" sz="1400" dirty="0"/>
                <a:t>This is the total number of cards issued to customers</a:t>
              </a:r>
            </a:p>
          </p:txBody>
        </p:sp>
      </p:grpSp>
      <p:grpSp>
        <p:nvGrpSpPr>
          <p:cNvPr id="36" name="Group 35">
            <a:extLst>
              <a:ext uri="{FF2B5EF4-FFF2-40B4-BE49-F238E27FC236}">
                <a16:creationId xmlns:a16="http://schemas.microsoft.com/office/drawing/2014/main" id="{7CE6F8C6-8D81-4313-AC82-010E5D4D52D5}"/>
              </a:ext>
            </a:extLst>
          </p:cNvPr>
          <p:cNvGrpSpPr/>
          <p:nvPr/>
        </p:nvGrpSpPr>
        <p:grpSpPr>
          <a:xfrm>
            <a:off x="2033734" y="4418800"/>
            <a:ext cx="4468198" cy="628188"/>
            <a:chOff x="1849489" y="1917786"/>
            <a:chExt cx="5154736" cy="724104"/>
          </a:xfrm>
        </p:grpSpPr>
        <p:sp>
          <p:nvSpPr>
            <p:cNvPr id="37" name="TextBox 36">
              <a:extLst>
                <a:ext uri="{FF2B5EF4-FFF2-40B4-BE49-F238E27FC236}">
                  <a16:creationId xmlns:a16="http://schemas.microsoft.com/office/drawing/2014/main" id="{CD5F6C5B-D524-46C1-9A52-04F4F0F98CB4}"/>
                </a:ext>
              </a:extLst>
            </p:cNvPr>
            <p:cNvSpPr txBox="1"/>
            <p:nvPr/>
          </p:nvSpPr>
          <p:spPr>
            <a:xfrm>
              <a:off x="2467512" y="1917786"/>
              <a:ext cx="2467344" cy="390247"/>
            </a:xfrm>
            <a:prstGeom prst="rect">
              <a:avLst/>
            </a:prstGeom>
            <a:noFill/>
          </p:spPr>
          <p:txBody>
            <a:bodyPr wrap="none" rtlCol="0">
              <a:spAutoFit/>
            </a:bodyPr>
            <a:lstStyle/>
            <a:p>
              <a:r>
                <a:rPr lang="en-US" sz="1600" b="1" dirty="0"/>
                <a:t>Total Debt Exposure</a:t>
              </a:r>
            </a:p>
          </p:txBody>
        </p:sp>
        <p:pic>
          <p:nvPicPr>
            <p:cNvPr id="38" name="Picture 37">
              <a:extLst>
                <a:ext uri="{FF2B5EF4-FFF2-40B4-BE49-F238E27FC236}">
                  <a16:creationId xmlns:a16="http://schemas.microsoft.com/office/drawing/2014/main" id="{9D5F21AB-326A-48DE-95E4-987179C89D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89" y="2043787"/>
              <a:ext cx="425106" cy="425106"/>
            </a:xfrm>
            <a:prstGeom prst="rect">
              <a:avLst/>
            </a:prstGeom>
          </p:spPr>
        </p:pic>
        <p:sp>
          <p:nvSpPr>
            <p:cNvPr id="39" name="TextBox 38">
              <a:extLst>
                <a:ext uri="{FF2B5EF4-FFF2-40B4-BE49-F238E27FC236}">
                  <a16:creationId xmlns:a16="http://schemas.microsoft.com/office/drawing/2014/main" id="{23C39D8E-A1C1-4342-81C8-97334AB01F42}"/>
                </a:ext>
              </a:extLst>
            </p:cNvPr>
            <p:cNvSpPr txBox="1"/>
            <p:nvPr/>
          </p:nvSpPr>
          <p:spPr>
            <a:xfrm>
              <a:off x="2467512" y="2287120"/>
              <a:ext cx="4536713" cy="354770"/>
            </a:xfrm>
            <a:prstGeom prst="rect">
              <a:avLst/>
            </a:prstGeom>
            <a:noFill/>
          </p:spPr>
          <p:txBody>
            <a:bodyPr wrap="none" rtlCol="0">
              <a:spAutoFit/>
            </a:bodyPr>
            <a:lstStyle/>
            <a:p>
              <a:r>
                <a:rPr lang="en-US" sz="1400" dirty="0"/>
                <a:t>This is the total amount of debt outstanding</a:t>
              </a:r>
            </a:p>
          </p:txBody>
        </p:sp>
      </p:grpSp>
      <p:grpSp>
        <p:nvGrpSpPr>
          <p:cNvPr id="40" name="Group 39">
            <a:extLst>
              <a:ext uri="{FF2B5EF4-FFF2-40B4-BE49-F238E27FC236}">
                <a16:creationId xmlns:a16="http://schemas.microsoft.com/office/drawing/2014/main" id="{3895D45C-C397-4FD9-B83A-3D0CF884437F}"/>
              </a:ext>
            </a:extLst>
          </p:cNvPr>
          <p:cNvGrpSpPr/>
          <p:nvPr/>
        </p:nvGrpSpPr>
        <p:grpSpPr>
          <a:xfrm>
            <a:off x="2033734" y="5277516"/>
            <a:ext cx="6133718" cy="628188"/>
            <a:chOff x="1849489" y="1917786"/>
            <a:chExt cx="7076163" cy="724104"/>
          </a:xfrm>
        </p:grpSpPr>
        <p:sp>
          <p:nvSpPr>
            <p:cNvPr id="41" name="TextBox 40">
              <a:extLst>
                <a:ext uri="{FF2B5EF4-FFF2-40B4-BE49-F238E27FC236}">
                  <a16:creationId xmlns:a16="http://schemas.microsoft.com/office/drawing/2014/main" id="{68C76DE4-D0CC-452E-935B-B5E44AC1EF94}"/>
                </a:ext>
              </a:extLst>
            </p:cNvPr>
            <p:cNvSpPr txBox="1"/>
            <p:nvPr/>
          </p:nvSpPr>
          <p:spPr>
            <a:xfrm>
              <a:off x="2467513" y="1917786"/>
              <a:ext cx="1298582" cy="390247"/>
            </a:xfrm>
            <a:prstGeom prst="rect">
              <a:avLst/>
            </a:prstGeom>
            <a:noFill/>
          </p:spPr>
          <p:txBody>
            <a:bodyPr wrap="none" rtlCol="0">
              <a:spAutoFit/>
            </a:bodyPr>
            <a:lstStyle/>
            <a:p>
              <a:r>
                <a:rPr lang="en-US" sz="1600" b="1" dirty="0"/>
                <a:t>Error Rate</a:t>
              </a:r>
            </a:p>
          </p:txBody>
        </p:sp>
        <p:pic>
          <p:nvPicPr>
            <p:cNvPr id="42" name="Picture 41">
              <a:extLst>
                <a:ext uri="{FF2B5EF4-FFF2-40B4-BE49-F238E27FC236}">
                  <a16:creationId xmlns:a16="http://schemas.microsoft.com/office/drawing/2014/main" id="{5DB2CF06-4B26-4C20-AC31-1D019D8C0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89" y="2043787"/>
              <a:ext cx="425106" cy="425106"/>
            </a:xfrm>
            <a:prstGeom prst="rect">
              <a:avLst/>
            </a:prstGeom>
          </p:spPr>
        </p:pic>
        <p:sp>
          <p:nvSpPr>
            <p:cNvPr id="43" name="TextBox 42">
              <a:extLst>
                <a:ext uri="{FF2B5EF4-FFF2-40B4-BE49-F238E27FC236}">
                  <a16:creationId xmlns:a16="http://schemas.microsoft.com/office/drawing/2014/main" id="{A688DD88-37E8-4F5D-9DB6-08099ACCB24E}"/>
                </a:ext>
              </a:extLst>
            </p:cNvPr>
            <p:cNvSpPr txBox="1"/>
            <p:nvPr/>
          </p:nvSpPr>
          <p:spPr>
            <a:xfrm>
              <a:off x="2467512" y="2287120"/>
              <a:ext cx="6458140" cy="354770"/>
            </a:xfrm>
            <a:prstGeom prst="rect">
              <a:avLst/>
            </a:prstGeom>
            <a:noFill/>
          </p:spPr>
          <p:txBody>
            <a:bodyPr wrap="none" rtlCol="0">
              <a:spAutoFit/>
            </a:bodyPr>
            <a:lstStyle/>
            <a:p>
              <a:r>
                <a:rPr lang="en-US" sz="1400" dirty="0"/>
                <a:t>Number and percentage of transactions that encounter errors</a:t>
              </a:r>
            </a:p>
          </p:txBody>
        </p:sp>
      </p:grpSp>
    </p:spTree>
    <p:extLst>
      <p:ext uri="{BB962C8B-B14F-4D97-AF65-F5344CB8AC3E}">
        <p14:creationId xmlns:p14="http://schemas.microsoft.com/office/powerpoint/2010/main" val="89383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F5102A-F6AF-4C11-AB08-6E5A21640558}"/>
              </a:ext>
            </a:extLst>
          </p:cNvPr>
          <p:cNvSpPr/>
          <p:nvPr/>
        </p:nvSpPr>
        <p:spPr>
          <a:xfrm>
            <a:off x="1453019" y="1227551"/>
            <a:ext cx="10384077" cy="5630449"/>
          </a:xfrm>
          <a:prstGeom prst="rect">
            <a:avLst/>
          </a:prstGeom>
          <a:solidFill>
            <a:schemeClr val="bg1">
              <a:alpha val="6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0EBEE4-16AF-457C-9B6E-4AD5690FDBEB}"/>
              </a:ext>
            </a:extLst>
          </p:cNvPr>
          <p:cNvSpPr>
            <a:spLocks noGrp="1"/>
          </p:cNvSpPr>
          <p:nvPr>
            <p:ph type="title"/>
          </p:nvPr>
        </p:nvSpPr>
        <p:spPr>
          <a:xfrm>
            <a:off x="4204762" y="509810"/>
            <a:ext cx="3782476" cy="810990"/>
          </a:xfrm>
        </p:spPr>
        <p:txBody>
          <a:bodyPr/>
          <a:lstStyle/>
          <a:p>
            <a:pPr algn="ctr"/>
            <a:r>
              <a:rPr lang="en-US" b="1" dirty="0">
                <a:solidFill>
                  <a:schemeClr val="tx1"/>
                </a:solidFill>
              </a:rPr>
              <a:t>OBJECTIVES</a:t>
            </a:r>
          </a:p>
        </p:txBody>
      </p:sp>
      <p:grpSp>
        <p:nvGrpSpPr>
          <p:cNvPr id="8" name="Group 7">
            <a:extLst>
              <a:ext uri="{FF2B5EF4-FFF2-40B4-BE49-F238E27FC236}">
                <a16:creationId xmlns:a16="http://schemas.microsoft.com/office/drawing/2014/main" id="{A26117DC-5CC1-4596-856E-37F385719242}"/>
              </a:ext>
            </a:extLst>
          </p:cNvPr>
          <p:cNvGrpSpPr/>
          <p:nvPr/>
        </p:nvGrpSpPr>
        <p:grpSpPr>
          <a:xfrm>
            <a:off x="2359069" y="1461997"/>
            <a:ext cx="8713939" cy="584775"/>
            <a:chOff x="2359069" y="1461997"/>
            <a:chExt cx="8713939" cy="584775"/>
          </a:xfrm>
        </p:grpSpPr>
        <p:pic>
          <p:nvPicPr>
            <p:cNvPr id="5" name="Picture 4">
              <a:extLst>
                <a:ext uri="{FF2B5EF4-FFF2-40B4-BE49-F238E27FC236}">
                  <a16:creationId xmlns:a16="http://schemas.microsoft.com/office/drawing/2014/main" id="{859E6495-321F-4CA4-AE21-A8C51BC52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69" y="1603332"/>
              <a:ext cx="271397" cy="271397"/>
            </a:xfrm>
            <a:prstGeom prst="rect">
              <a:avLst/>
            </a:prstGeom>
          </p:spPr>
        </p:pic>
        <p:sp>
          <p:nvSpPr>
            <p:cNvPr id="7" name="TextBox 6">
              <a:extLst>
                <a:ext uri="{FF2B5EF4-FFF2-40B4-BE49-F238E27FC236}">
                  <a16:creationId xmlns:a16="http://schemas.microsoft.com/office/drawing/2014/main" id="{CFA08BCE-0491-44BA-9B1D-496CEBD6C54F}"/>
                </a:ext>
              </a:extLst>
            </p:cNvPr>
            <p:cNvSpPr txBox="1"/>
            <p:nvPr/>
          </p:nvSpPr>
          <p:spPr>
            <a:xfrm>
              <a:off x="2743200" y="1461997"/>
              <a:ext cx="8329808" cy="584775"/>
            </a:xfrm>
            <a:prstGeom prst="rect">
              <a:avLst/>
            </a:prstGeom>
            <a:noFill/>
          </p:spPr>
          <p:txBody>
            <a:bodyPr wrap="square" rtlCol="0">
              <a:spAutoFit/>
            </a:bodyPr>
            <a:lstStyle/>
            <a:p>
              <a:r>
                <a:rPr lang="en-US" sz="1600" dirty="0"/>
                <a:t>To assess the performance and usage of different card types and brands to inform future product development and service enhancements.</a:t>
              </a:r>
              <a:endParaRPr lang="en-US" dirty="0"/>
            </a:p>
          </p:txBody>
        </p:sp>
      </p:grpSp>
      <p:grpSp>
        <p:nvGrpSpPr>
          <p:cNvPr id="13" name="Group 12">
            <a:extLst>
              <a:ext uri="{FF2B5EF4-FFF2-40B4-BE49-F238E27FC236}">
                <a16:creationId xmlns:a16="http://schemas.microsoft.com/office/drawing/2014/main" id="{8953B262-8628-4906-B9ED-1DCB56A7381E}"/>
              </a:ext>
            </a:extLst>
          </p:cNvPr>
          <p:cNvGrpSpPr/>
          <p:nvPr/>
        </p:nvGrpSpPr>
        <p:grpSpPr>
          <a:xfrm>
            <a:off x="2359069" y="2288569"/>
            <a:ext cx="8713939" cy="830997"/>
            <a:chOff x="2359069" y="1461997"/>
            <a:chExt cx="8713939" cy="830997"/>
          </a:xfrm>
        </p:grpSpPr>
        <p:pic>
          <p:nvPicPr>
            <p:cNvPr id="14" name="Picture 13">
              <a:extLst>
                <a:ext uri="{FF2B5EF4-FFF2-40B4-BE49-F238E27FC236}">
                  <a16:creationId xmlns:a16="http://schemas.microsoft.com/office/drawing/2014/main" id="{F68D1B3D-1A73-4F22-847E-2D8E16EBA4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69" y="1603332"/>
              <a:ext cx="271397" cy="271397"/>
            </a:xfrm>
            <a:prstGeom prst="rect">
              <a:avLst/>
            </a:prstGeom>
          </p:spPr>
        </p:pic>
        <p:sp>
          <p:nvSpPr>
            <p:cNvPr id="15" name="TextBox 14">
              <a:extLst>
                <a:ext uri="{FF2B5EF4-FFF2-40B4-BE49-F238E27FC236}">
                  <a16:creationId xmlns:a16="http://schemas.microsoft.com/office/drawing/2014/main" id="{D3B98D31-2DB8-4FFB-A413-324C290E4ECB}"/>
                </a:ext>
              </a:extLst>
            </p:cNvPr>
            <p:cNvSpPr txBox="1"/>
            <p:nvPr/>
          </p:nvSpPr>
          <p:spPr>
            <a:xfrm>
              <a:off x="2743200" y="1461997"/>
              <a:ext cx="8329808" cy="830997"/>
            </a:xfrm>
            <a:prstGeom prst="rect">
              <a:avLst/>
            </a:prstGeom>
            <a:noFill/>
          </p:spPr>
          <p:txBody>
            <a:bodyPr wrap="square" rtlCol="0">
              <a:spAutoFit/>
            </a:bodyPr>
            <a:lstStyle/>
            <a:p>
              <a:r>
                <a:rPr lang="en-US" sz="1600" dirty="0"/>
                <a:t>To Analyze financial profiles and credit card usage patterns to predict the likelihood of default, enabling more accurate credit limit assignments and loan approvals.</a:t>
              </a:r>
              <a:endParaRPr lang="en-US" dirty="0"/>
            </a:p>
          </p:txBody>
        </p:sp>
      </p:grpSp>
      <p:grpSp>
        <p:nvGrpSpPr>
          <p:cNvPr id="16" name="Group 15">
            <a:extLst>
              <a:ext uri="{FF2B5EF4-FFF2-40B4-BE49-F238E27FC236}">
                <a16:creationId xmlns:a16="http://schemas.microsoft.com/office/drawing/2014/main" id="{1F25F7D5-039C-4132-8591-159E44476367}"/>
              </a:ext>
            </a:extLst>
          </p:cNvPr>
          <p:cNvGrpSpPr/>
          <p:nvPr/>
        </p:nvGrpSpPr>
        <p:grpSpPr>
          <a:xfrm>
            <a:off x="2359069" y="3337768"/>
            <a:ext cx="8713939" cy="830997"/>
            <a:chOff x="2359069" y="1461997"/>
            <a:chExt cx="8713939" cy="830997"/>
          </a:xfrm>
        </p:grpSpPr>
        <p:pic>
          <p:nvPicPr>
            <p:cNvPr id="17" name="Picture 16">
              <a:extLst>
                <a:ext uri="{FF2B5EF4-FFF2-40B4-BE49-F238E27FC236}">
                  <a16:creationId xmlns:a16="http://schemas.microsoft.com/office/drawing/2014/main" id="{FBC4B611-4E56-4C07-A1F9-F0A2E7C6B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69" y="1603332"/>
              <a:ext cx="271397" cy="271397"/>
            </a:xfrm>
            <a:prstGeom prst="rect">
              <a:avLst/>
            </a:prstGeom>
          </p:spPr>
        </p:pic>
        <p:sp>
          <p:nvSpPr>
            <p:cNvPr id="18" name="TextBox 17">
              <a:extLst>
                <a:ext uri="{FF2B5EF4-FFF2-40B4-BE49-F238E27FC236}">
                  <a16:creationId xmlns:a16="http://schemas.microsoft.com/office/drawing/2014/main" id="{2CA7823C-D65D-4B38-8E2C-ADE3EE7A4870}"/>
                </a:ext>
              </a:extLst>
            </p:cNvPr>
            <p:cNvSpPr txBox="1"/>
            <p:nvPr/>
          </p:nvSpPr>
          <p:spPr>
            <a:xfrm>
              <a:off x="2743200" y="1461997"/>
              <a:ext cx="8329808" cy="830997"/>
            </a:xfrm>
            <a:prstGeom prst="rect">
              <a:avLst/>
            </a:prstGeom>
            <a:noFill/>
          </p:spPr>
          <p:txBody>
            <a:bodyPr wrap="square" rtlCol="0">
              <a:spAutoFit/>
            </a:bodyPr>
            <a:lstStyle/>
            <a:p>
              <a:r>
                <a:rPr lang="en-US" sz="1600" dirty="0"/>
                <a:t>Track and evaluate customer spending habits across different merchant categories, locations, and transaction types to gain insights into consumer preferences and lifestyle trends.</a:t>
              </a:r>
              <a:endParaRPr lang="en-US" dirty="0"/>
            </a:p>
          </p:txBody>
        </p:sp>
      </p:grpSp>
      <p:grpSp>
        <p:nvGrpSpPr>
          <p:cNvPr id="19" name="Group 18">
            <a:extLst>
              <a:ext uri="{FF2B5EF4-FFF2-40B4-BE49-F238E27FC236}">
                <a16:creationId xmlns:a16="http://schemas.microsoft.com/office/drawing/2014/main" id="{E4DD1F62-CD62-4BF3-B52A-CAC23587DC98}"/>
              </a:ext>
            </a:extLst>
          </p:cNvPr>
          <p:cNvGrpSpPr/>
          <p:nvPr/>
        </p:nvGrpSpPr>
        <p:grpSpPr>
          <a:xfrm>
            <a:off x="2359069" y="4386967"/>
            <a:ext cx="8713939" cy="584775"/>
            <a:chOff x="2359069" y="1461997"/>
            <a:chExt cx="8713939" cy="584775"/>
          </a:xfrm>
        </p:grpSpPr>
        <p:pic>
          <p:nvPicPr>
            <p:cNvPr id="20" name="Picture 19">
              <a:extLst>
                <a:ext uri="{FF2B5EF4-FFF2-40B4-BE49-F238E27FC236}">
                  <a16:creationId xmlns:a16="http://schemas.microsoft.com/office/drawing/2014/main" id="{2D4A7171-DCEE-4003-8303-D0F9AA375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69" y="1603332"/>
              <a:ext cx="271397" cy="271397"/>
            </a:xfrm>
            <a:prstGeom prst="rect">
              <a:avLst/>
            </a:prstGeom>
          </p:spPr>
        </p:pic>
        <p:sp>
          <p:nvSpPr>
            <p:cNvPr id="21" name="TextBox 20">
              <a:extLst>
                <a:ext uri="{FF2B5EF4-FFF2-40B4-BE49-F238E27FC236}">
                  <a16:creationId xmlns:a16="http://schemas.microsoft.com/office/drawing/2014/main" id="{83310138-95DB-4759-8BE1-69BA8ADFB04B}"/>
                </a:ext>
              </a:extLst>
            </p:cNvPr>
            <p:cNvSpPr txBox="1"/>
            <p:nvPr/>
          </p:nvSpPr>
          <p:spPr>
            <a:xfrm>
              <a:off x="2743200" y="1461997"/>
              <a:ext cx="8329808" cy="584775"/>
            </a:xfrm>
            <a:prstGeom prst="rect">
              <a:avLst/>
            </a:prstGeom>
            <a:noFill/>
          </p:spPr>
          <p:txBody>
            <a:bodyPr wrap="square" rtlCol="0">
              <a:spAutoFit/>
            </a:bodyPr>
            <a:lstStyle/>
            <a:p>
              <a:r>
                <a:rPr lang="en-US" sz="1600" dirty="0"/>
                <a:t>Explore regional trends in spending and financial behavior by analyzing transaction data in relation to geographic indicators such as city, and state</a:t>
              </a:r>
              <a:endParaRPr lang="en-US" dirty="0"/>
            </a:p>
          </p:txBody>
        </p:sp>
      </p:grpSp>
      <p:grpSp>
        <p:nvGrpSpPr>
          <p:cNvPr id="22" name="Group 21">
            <a:extLst>
              <a:ext uri="{FF2B5EF4-FFF2-40B4-BE49-F238E27FC236}">
                <a16:creationId xmlns:a16="http://schemas.microsoft.com/office/drawing/2014/main" id="{7A72E646-8B8F-448B-8A68-E07E05789658}"/>
              </a:ext>
            </a:extLst>
          </p:cNvPr>
          <p:cNvGrpSpPr/>
          <p:nvPr/>
        </p:nvGrpSpPr>
        <p:grpSpPr>
          <a:xfrm>
            <a:off x="2359069" y="5218523"/>
            <a:ext cx="8713939" cy="584775"/>
            <a:chOff x="2359069" y="1446642"/>
            <a:chExt cx="8713939" cy="584775"/>
          </a:xfrm>
        </p:grpSpPr>
        <p:pic>
          <p:nvPicPr>
            <p:cNvPr id="23" name="Picture 22">
              <a:extLst>
                <a:ext uri="{FF2B5EF4-FFF2-40B4-BE49-F238E27FC236}">
                  <a16:creationId xmlns:a16="http://schemas.microsoft.com/office/drawing/2014/main" id="{6A516857-4718-4A9F-8E05-8303C3FEA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69" y="1603332"/>
              <a:ext cx="271397" cy="271397"/>
            </a:xfrm>
            <a:prstGeom prst="rect">
              <a:avLst/>
            </a:prstGeom>
          </p:spPr>
        </p:pic>
        <p:sp>
          <p:nvSpPr>
            <p:cNvPr id="24" name="TextBox 23">
              <a:extLst>
                <a:ext uri="{FF2B5EF4-FFF2-40B4-BE49-F238E27FC236}">
                  <a16:creationId xmlns:a16="http://schemas.microsoft.com/office/drawing/2014/main" id="{DCEA67BC-1B1E-487C-8BE4-5600CDC32486}"/>
                </a:ext>
              </a:extLst>
            </p:cNvPr>
            <p:cNvSpPr txBox="1"/>
            <p:nvPr/>
          </p:nvSpPr>
          <p:spPr>
            <a:xfrm>
              <a:off x="2743200" y="1446642"/>
              <a:ext cx="8329808" cy="584775"/>
            </a:xfrm>
            <a:prstGeom prst="rect">
              <a:avLst/>
            </a:prstGeom>
            <a:noFill/>
          </p:spPr>
          <p:txBody>
            <a:bodyPr wrap="square" rtlCol="0">
              <a:spAutoFit/>
            </a:bodyPr>
            <a:lstStyle/>
            <a:p>
              <a:r>
                <a:rPr lang="en-US" sz="1600" dirty="0"/>
                <a:t>Identify unusual or suspicious transaction behaviors using chip usage patterns, error logs, and location data to enhance fraud prevention mechanisms.</a:t>
              </a:r>
              <a:endParaRPr lang="en-US" dirty="0"/>
            </a:p>
          </p:txBody>
        </p:sp>
      </p:grpSp>
    </p:spTree>
    <p:extLst>
      <p:ext uri="{BB962C8B-B14F-4D97-AF65-F5344CB8AC3E}">
        <p14:creationId xmlns:p14="http://schemas.microsoft.com/office/powerpoint/2010/main" val="278670492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FD45CF-BC32-4D30-A52C-8B0935BC647C}"/>
              </a:ext>
            </a:extLst>
          </p:cNvPr>
          <p:cNvSpPr/>
          <p:nvPr/>
        </p:nvSpPr>
        <p:spPr>
          <a:xfrm>
            <a:off x="0" y="701459"/>
            <a:ext cx="12192000" cy="61565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D60FCBED-ED7F-455D-9862-4C2CDC8701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07" y="799484"/>
            <a:ext cx="5736921" cy="2792354"/>
          </a:xfrm>
          <a:prstGeom prst="rect">
            <a:avLst/>
          </a:prstGeom>
          <a:ln>
            <a:solidFill>
              <a:schemeClr val="accent1">
                <a:lumMod val="60000"/>
                <a:lumOff val="40000"/>
              </a:schemeClr>
            </a:solidFill>
          </a:ln>
        </p:spPr>
      </p:pic>
      <p:pic>
        <p:nvPicPr>
          <p:cNvPr id="11" name="Picture 10">
            <a:extLst>
              <a:ext uri="{FF2B5EF4-FFF2-40B4-BE49-F238E27FC236}">
                <a16:creationId xmlns:a16="http://schemas.microsoft.com/office/drawing/2014/main" id="{9882C850-465C-4378-BBD2-0F45EF584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6997" y="799484"/>
            <a:ext cx="5114795" cy="2792354"/>
          </a:xfrm>
          <a:prstGeom prst="rect">
            <a:avLst/>
          </a:prstGeom>
          <a:ln>
            <a:solidFill>
              <a:schemeClr val="accent1">
                <a:lumMod val="60000"/>
                <a:lumOff val="40000"/>
              </a:schemeClr>
            </a:solidFill>
          </a:ln>
        </p:spPr>
      </p:pic>
      <p:sp>
        <p:nvSpPr>
          <p:cNvPr id="16" name="Title 1">
            <a:extLst>
              <a:ext uri="{FF2B5EF4-FFF2-40B4-BE49-F238E27FC236}">
                <a16:creationId xmlns:a16="http://schemas.microsoft.com/office/drawing/2014/main" id="{2B11519F-A70E-4099-B69E-1AF7870BB7E1}"/>
              </a:ext>
            </a:extLst>
          </p:cNvPr>
          <p:cNvSpPr txBox="1">
            <a:spLocks/>
          </p:cNvSpPr>
          <p:nvPr/>
        </p:nvSpPr>
        <p:spPr>
          <a:xfrm>
            <a:off x="1995505" y="151657"/>
            <a:ext cx="7349067" cy="810990"/>
          </a:xfrm>
          <a:prstGeom prst="rect">
            <a:avLst/>
          </a:prstGeom>
        </p:spPr>
        <p:txBody>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tx1"/>
                </a:solidFill>
              </a:rPr>
              <a:t>KEY FINDINGS AND INSIGHT</a:t>
            </a:r>
          </a:p>
        </p:txBody>
      </p:sp>
      <p:sp>
        <p:nvSpPr>
          <p:cNvPr id="4" name="TextBox 3">
            <a:extLst>
              <a:ext uri="{FF2B5EF4-FFF2-40B4-BE49-F238E27FC236}">
                <a16:creationId xmlns:a16="http://schemas.microsoft.com/office/drawing/2014/main" id="{3A462753-8BA3-4EEA-8173-F5B7AFB150D2}"/>
              </a:ext>
            </a:extLst>
          </p:cNvPr>
          <p:cNvSpPr txBox="1"/>
          <p:nvPr/>
        </p:nvSpPr>
        <p:spPr>
          <a:xfrm>
            <a:off x="100208" y="3778369"/>
            <a:ext cx="6325644" cy="2893100"/>
          </a:xfrm>
          <a:prstGeom prst="rect">
            <a:avLst/>
          </a:prstGeom>
          <a:noFill/>
        </p:spPr>
        <p:txBody>
          <a:bodyPr wrap="square" rtlCol="0">
            <a:spAutoFit/>
          </a:bodyPr>
          <a:lstStyle/>
          <a:p>
            <a:pPr algn="just"/>
            <a:r>
              <a:rPr lang="en-US" sz="1400" dirty="0">
                <a:cs typeface="Times New Roman" panose="02020603050405020304" pitchFamily="18" charset="0"/>
              </a:rPr>
              <a:t>The age distribution shows a clear picture of the bank’s core demographic. The adult (ages 26–45) and middle-aged (ages 46–60) groups form the largest segments, with nearly equal gender representation in each (358 females vs. 350 males in adults, and 336 females vs. 343 males in middle-aged clients). This indicates that the bank's current client base is largely composed of economically active individuals, which aligns with the typical profile of financially engaged customers. The youth segment (ages 18–25) is also relatively balanced, suggesting that the bank is making some headway in attracting younger users. However, the numbers drop significantly in the older age brackets, particularly among the elderly, where there are only 38 female and 17 male clients. This gap could reflect barriers in accessibility or a lack of tailored services for older customers. </a:t>
            </a:r>
          </a:p>
        </p:txBody>
      </p:sp>
      <p:sp>
        <p:nvSpPr>
          <p:cNvPr id="5" name="TextBox 4">
            <a:extLst>
              <a:ext uri="{FF2B5EF4-FFF2-40B4-BE49-F238E27FC236}">
                <a16:creationId xmlns:a16="http://schemas.microsoft.com/office/drawing/2014/main" id="{5C4B8F31-3BAA-4898-B4C5-0AF65AC7156F}"/>
              </a:ext>
            </a:extLst>
          </p:cNvPr>
          <p:cNvSpPr txBox="1"/>
          <p:nvPr/>
        </p:nvSpPr>
        <p:spPr>
          <a:xfrm>
            <a:off x="7077205" y="3970751"/>
            <a:ext cx="5014587" cy="1600438"/>
          </a:xfrm>
          <a:prstGeom prst="rect">
            <a:avLst/>
          </a:prstGeom>
          <a:noFill/>
        </p:spPr>
        <p:txBody>
          <a:bodyPr wrap="square" rtlCol="0">
            <a:spAutoFit/>
          </a:bodyPr>
          <a:lstStyle/>
          <a:p>
            <a:pPr algn="just"/>
            <a:r>
              <a:rPr lang="en-US" sz="1400" dirty="0"/>
              <a:t>The </a:t>
            </a:r>
            <a:r>
              <a:rPr lang="en-US" sz="1400" b="1" dirty="0"/>
              <a:t>Client Income Profile</a:t>
            </a:r>
            <a:r>
              <a:rPr lang="en-US" sz="1400" dirty="0"/>
              <a:t> chart reveals that the majority of clients fall into the high-income category, accounting for 70.25% of the total client base. This indicates a strong skew toward wealthier individuals. In comparison, middle-income clients make up 27.15%, while only 2.6% of clients are categorized as low-income. </a:t>
            </a:r>
            <a:endParaRPr lang="en-US" dirty="0"/>
          </a:p>
        </p:txBody>
      </p:sp>
    </p:spTree>
    <p:extLst>
      <p:ext uri="{BB962C8B-B14F-4D97-AF65-F5344CB8AC3E}">
        <p14:creationId xmlns:p14="http://schemas.microsoft.com/office/powerpoint/2010/main" val="12895647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3055E6-42F6-40FD-8AE9-1EB053BE189D}"/>
              </a:ext>
            </a:extLst>
          </p:cNvPr>
          <p:cNvSpPr/>
          <p:nvPr/>
        </p:nvSpPr>
        <p:spPr>
          <a:xfrm>
            <a:off x="0" y="0"/>
            <a:ext cx="12192000" cy="6858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endParaRPr>
          </a:p>
        </p:txBody>
      </p:sp>
      <p:pic>
        <p:nvPicPr>
          <p:cNvPr id="3" name="Picture 2">
            <a:extLst>
              <a:ext uri="{FF2B5EF4-FFF2-40B4-BE49-F238E27FC236}">
                <a16:creationId xmlns:a16="http://schemas.microsoft.com/office/drawing/2014/main" id="{0B7FCD60-2B77-48C4-8421-E9A441B51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426656" cy="3429000"/>
          </a:xfrm>
          <a:prstGeom prst="rect">
            <a:avLst/>
          </a:prstGeom>
          <a:ln>
            <a:solidFill>
              <a:schemeClr val="accent1">
                <a:lumMod val="40000"/>
                <a:lumOff val="60000"/>
              </a:schemeClr>
            </a:solidFill>
          </a:ln>
        </p:spPr>
      </p:pic>
      <p:pic>
        <p:nvPicPr>
          <p:cNvPr id="2" name="Picture 1">
            <a:extLst>
              <a:ext uri="{FF2B5EF4-FFF2-40B4-BE49-F238E27FC236}">
                <a16:creationId xmlns:a16="http://schemas.microsoft.com/office/drawing/2014/main" id="{E3BDEA5B-F9A0-4ED9-B4E3-B5BD446B5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569" y="0"/>
            <a:ext cx="6096000" cy="3429000"/>
          </a:xfrm>
          <a:prstGeom prst="rect">
            <a:avLst/>
          </a:prstGeom>
          <a:ln>
            <a:solidFill>
              <a:schemeClr val="accent1">
                <a:lumMod val="40000"/>
                <a:lumOff val="60000"/>
              </a:schemeClr>
            </a:solidFill>
          </a:ln>
        </p:spPr>
      </p:pic>
      <p:sp>
        <p:nvSpPr>
          <p:cNvPr id="5" name="TextBox 4">
            <a:extLst>
              <a:ext uri="{FF2B5EF4-FFF2-40B4-BE49-F238E27FC236}">
                <a16:creationId xmlns:a16="http://schemas.microsoft.com/office/drawing/2014/main" id="{982B6173-D97D-4DCE-9D64-DDA9F7F3B405}"/>
              </a:ext>
            </a:extLst>
          </p:cNvPr>
          <p:cNvSpPr txBox="1"/>
          <p:nvPr/>
        </p:nvSpPr>
        <p:spPr>
          <a:xfrm>
            <a:off x="5957569" y="3620021"/>
            <a:ext cx="5819138" cy="2862322"/>
          </a:xfrm>
          <a:prstGeom prst="rect">
            <a:avLst/>
          </a:prstGeom>
          <a:noFill/>
        </p:spPr>
        <p:txBody>
          <a:bodyPr wrap="square" rtlCol="0">
            <a:spAutoFit/>
          </a:bodyPr>
          <a:lstStyle/>
          <a:p>
            <a:pPr algn="just"/>
            <a:r>
              <a:rPr lang="en-US" sz="1500" dirty="0">
                <a:solidFill>
                  <a:schemeClr val="tx1"/>
                </a:solidFill>
                <a:cs typeface="Times New Roman" panose="02020603050405020304" pitchFamily="18" charset="0"/>
              </a:rPr>
              <a:t>The distribution of client risk levels reveals that the majority of clients fall under the moderate risk category, with 455 females and 424 males. This suggests that most clients, regardless of gender, exhibit characteristics that place them in a mid-level risk bracket. Interestingly, while the numbers are close, females slightly outnumber males in both the moderate and high-risk categories, indicating a marginally higher representation of females in riskier segments. On the other hand, in the low-risk category, males (344) slightly outpace females (337), pointing to a minor tilt towards lower risk among male clients. Overall, the gender distribution across risk levels remains relatively balanced.</a:t>
            </a:r>
          </a:p>
        </p:txBody>
      </p:sp>
      <p:sp>
        <p:nvSpPr>
          <p:cNvPr id="6" name="TextBox 5">
            <a:extLst>
              <a:ext uri="{FF2B5EF4-FFF2-40B4-BE49-F238E27FC236}">
                <a16:creationId xmlns:a16="http://schemas.microsoft.com/office/drawing/2014/main" id="{730991E9-6C02-4BB9-BD07-4BDCB24F8867}"/>
              </a:ext>
            </a:extLst>
          </p:cNvPr>
          <p:cNvSpPr txBox="1"/>
          <p:nvPr/>
        </p:nvSpPr>
        <p:spPr>
          <a:xfrm>
            <a:off x="138431" y="3589243"/>
            <a:ext cx="5288225" cy="2893100"/>
          </a:xfrm>
          <a:prstGeom prst="rect">
            <a:avLst/>
          </a:prstGeom>
          <a:noFill/>
        </p:spPr>
        <p:txBody>
          <a:bodyPr wrap="square" rtlCol="0">
            <a:spAutoFit/>
          </a:bodyPr>
          <a:lstStyle/>
          <a:p>
            <a:pPr algn="just"/>
            <a:r>
              <a:rPr lang="en-US" sz="1400" dirty="0">
                <a:cs typeface="Times New Roman" panose="02020603050405020304" pitchFamily="18" charset="0"/>
              </a:rPr>
              <a:t>The Debt-to-Income (DTI) ratio breakdown by gender, shows a significant proportion of both male and female clients fall under the “poor” DTI category, with 820 males and 814 females. This suggests that most clients are burdened with debt levels that are disproportionately high relative to their income. Interestingly, a slightly higher number of females (182) fall into the “good” category compared to males (148), indicating that female clients may, on average, manage their debt slightly more effectively. The “fair” category is sparsely populated, with only 20 females and 16 males, underscoring the need for stronger financial literacy and debt management strategies among the bank’s clientele</a:t>
            </a:r>
            <a:r>
              <a:rPr lang="en-US" sz="1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391259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DC7F39-D57C-476B-BC34-6655EEC5D26F}"/>
              </a:ext>
            </a:extLst>
          </p:cNvPr>
          <p:cNvSpPr/>
          <p:nvPr/>
        </p:nvSpPr>
        <p:spPr>
          <a:xfrm>
            <a:off x="0" y="0"/>
            <a:ext cx="12192000" cy="6857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B8399994-1902-43BE-89F8-95D6499CD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6836" y="3331922"/>
            <a:ext cx="5432431" cy="3507376"/>
          </a:xfrm>
          <a:prstGeom prst="rect">
            <a:avLst/>
          </a:prstGeom>
          <a:ln>
            <a:solidFill>
              <a:schemeClr val="accent1">
                <a:lumMod val="40000"/>
                <a:lumOff val="60000"/>
              </a:schemeClr>
            </a:solidFill>
          </a:ln>
        </p:spPr>
      </p:pic>
      <p:pic>
        <p:nvPicPr>
          <p:cNvPr id="3" name="Picture 2">
            <a:extLst>
              <a:ext uri="{FF2B5EF4-FFF2-40B4-BE49-F238E27FC236}">
                <a16:creationId xmlns:a16="http://schemas.microsoft.com/office/drawing/2014/main" id="{239602D7-BE57-48F2-A52B-9C9CA4866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5364961" cy="3331923"/>
          </a:xfrm>
          <a:prstGeom prst="rect">
            <a:avLst/>
          </a:prstGeom>
          <a:ln>
            <a:solidFill>
              <a:schemeClr val="accent1">
                <a:lumMod val="40000"/>
                <a:lumOff val="60000"/>
              </a:schemeClr>
            </a:solidFill>
          </a:ln>
        </p:spPr>
      </p:pic>
      <p:sp>
        <p:nvSpPr>
          <p:cNvPr id="5" name="TextBox 4">
            <a:extLst>
              <a:ext uri="{FF2B5EF4-FFF2-40B4-BE49-F238E27FC236}">
                <a16:creationId xmlns:a16="http://schemas.microsoft.com/office/drawing/2014/main" id="{3B0EEA4D-A916-4F95-AF56-0EF0E8BF2AD5}"/>
              </a:ext>
            </a:extLst>
          </p:cNvPr>
          <p:cNvSpPr txBox="1"/>
          <p:nvPr/>
        </p:nvSpPr>
        <p:spPr>
          <a:xfrm>
            <a:off x="550836" y="4342380"/>
            <a:ext cx="6096000" cy="1600438"/>
          </a:xfrm>
          <a:prstGeom prst="rect">
            <a:avLst/>
          </a:prstGeom>
          <a:noFill/>
        </p:spPr>
        <p:txBody>
          <a:bodyPr wrap="square" rtlCol="0">
            <a:spAutoFit/>
          </a:bodyPr>
          <a:lstStyle/>
          <a:p>
            <a:pPr algn="just"/>
            <a:r>
              <a:rPr lang="en-US" sz="1400" dirty="0">
                <a:cs typeface="Times New Roman" panose="02020603050405020304" pitchFamily="18" charset="0"/>
              </a:rPr>
              <a:t>The data reflects a highly efficient transaction system, with 154K successful transactions accounting for an impressive 98.26% of all activity. Only 3K transactions (1.74%) failed, indicating that system reliability and transaction processing are functioning at a very high level. This low failure rate could be attributed to effective error handling, or consistent user behavior. Maintaining such a high success rate is crucial for user trust and operational efficiency.</a:t>
            </a:r>
          </a:p>
        </p:txBody>
      </p:sp>
      <p:sp>
        <p:nvSpPr>
          <p:cNvPr id="6" name="TextBox 5">
            <a:extLst>
              <a:ext uri="{FF2B5EF4-FFF2-40B4-BE49-F238E27FC236}">
                <a16:creationId xmlns:a16="http://schemas.microsoft.com/office/drawing/2014/main" id="{A1D90FDD-440F-4EB5-8E6F-5D770B94169D}"/>
              </a:ext>
            </a:extLst>
          </p:cNvPr>
          <p:cNvSpPr txBox="1"/>
          <p:nvPr/>
        </p:nvSpPr>
        <p:spPr>
          <a:xfrm>
            <a:off x="5405253" y="562295"/>
            <a:ext cx="6325644" cy="2031325"/>
          </a:xfrm>
          <a:prstGeom prst="rect">
            <a:avLst/>
          </a:prstGeom>
          <a:noFill/>
        </p:spPr>
        <p:txBody>
          <a:bodyPr wrap="square" rtlCol="0">
            <a:spAutoFit/>
          </a:bodyPr>
          <a:lstStyle/>
          <a:p>
            <a:pPr algn="just"/>
            <a:r>
              <a:rPr lang="en-US" sz="1400" dirty="0">
                <a:cs typeface="Times New Roman" panose="02020603050405020304" pitchFamily="18" charset="0"/>
              </a:rPr>
              <a:t>From the chart, 112K transactions (71.31%) were done using Chip Transaction methods, this indicates that chip-based payments are the most preferred and widely used method, possibly due to better security or ease of use. 27K transactions (17.38%) were done through Swipe Transactions, though still in use, this method is significantly less popular compared to chip transactions, possibly due to being less secure or older technology. While 18K transactions (11.31%) were conducted through Online Transactions, this might suggest a lower adoption of digital platforms or user trust concerns.</a:t>
            </a:r>
          </a:p>
        </p:txBody>
      </p:sp>
    </p:spTree>
    <p:extLst>
      <p:ext uri="{BB962C8B-B14F-4D97-AF65-F5344CB8AC3E}">
        <p14:creationId xmlns:p14="http://schemas.microsoft.com/office/powerpoint/2010/main" val="32000371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5F5C8F-7E3E-49E9-AFD0-65027017B040}"/>
              </a:ext>
            </a:extLst>
          </p:cNvPr>
          <p:cNvSpPr/>
          <p:nvPr/>
        </p:nvSpPr>
        <p:spPr>
          <a:xfrm>
            <a:off x="0" y="0"/>
            <a:ext cx="1215778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815F78B-5D28-4892-BC60-F65A70E21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1112" y="137786"/>
            <a:ext cx="5468058" cy="3291214"/>
          </a:xfrm>
          <a:prstGeom prst="rect">
            <a:avLst/>
          </a:prstGeom>
          <a:ln>
            <a:solidFill>
              <a:schemeClr val="accent1">
                <a:lumMod val="60000"/>
                <a:lumOff val="40000"/>
              </a:schemeClr>
            </a:solidFill>
          </a:ln>
        </p:spPr>
      </p:pic>
      <p:pic>
        <p:nvPicPr>
          <p:cNvPr id="5" name="Picture 4">
            <a:extLst>
              <a:ext uri="{FF2B5EF4-FFF2-40B4-BE49-F238E27FC236}">
                <a16:creationId xmlns:a16="http://schemas.microsoft.com/office/drawing/2014/main" id="{991843AD-A305-4E4F-82ED-F5745EC5F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30" y="3675062"/>
            <a:ext cx="4787477" cy="3182938"/>
          </a:xfrm>
          <a:prstGeom prst="rect">
            <a:avLst/>
          </a:prstGeom>
          <a:ln>
            <a:solidFill>
              <a:schemeClr val="accent1">
                <a:lumMod val="60000"/>
                <a:lumOff val="40000"/>
              </a:schemeClr>
            </a:solidFill>
          </a:ln>
        </p:spPr>
      </p:pic>
      <p:sp>
        <p:nvSpPr>
          <p:cNvPr id="4" name="TextBox 3">
            <a:extLst>
              <a:ext uri="{FF2B5EF4-FFF2-40B4-BE49-F238E27FC236}">
                <a16:creationId xmlns:a16="http://schemas.microsoft.com/office/drawing/2014/main" id="{0E3B6EB1-4320-4D77-A3C4-67DD5F20B469}"/>
              </a:ext>
            </a:extLst>
          </p:cNvPr>
          <p:cNvSpPr txBox="1"/>
          <p:nvPr/>
        </p:nvSpPr>
        <p:spPr>
          <a:xfrm>
            <a:off x="210408" y="283260"/>
            <a:ext cx="6340704" cy="2893100"/>
          </a:xfrm>
          <a:prstGeom prst="rect">
            <a:avLst/>
          </a:prstGeom>
          <a:noFill/>
        </p:spPr>
        <p:txBody>
          <a:bodyPr wrap="square" rtlCol="0">
            <a:spAutoFit/>
          </a:bodyPr>
          <a:lstStyle/>
          <a:p>
            <a:pPr algn="just"/>
            <a:r>
              <a:rPr lang="en-US" sz="1400" dirty="0">
                <a:cs typeface="Times New Roman" panose="02020603050405020304" pitchFamily="18" charset="0"/>
              </a:rPr>
              <a:t>The error message analysis reveals that the vast majority of transactions were processed successfully, with a remarkable 154,486 instances showing no error. This indicates a high level of system reliability and operational efficiency across the bank’s transaction channels. However, the most prevalent issue is transactions failing due to “Insufficient Balance”, which occurred 1,760 times. This suggests that a significant number of clients are either unaware of their account balances or are consistently attempting transactions without adequate funds. Additionally, there were 388 instances of “Bad PIN” entries, and 324 Technical Glitches, which may indicate either user experience problems or underlying system instability. Less frequent errors include bad card numbers (93 cases) and bad expiration dates (73 cases), which are likely due to outdated card details or manual entry mistakes</a:t>
            </a:r>
          </a:p>
        </p:txBody>
      </p:sp>
      <p:sp>
        <p:nvSpPr>
          <p:cNvPr id="6" name="TextBox 5">
            <a:extLst>
              <a:ext uri="{FF2B5EF4-FFF2-40B4-BE49-F238E27FC236}">
                <a16:creationId xmlns:a16="http://schemas.microsoft.com/office/drawing/2014/main" id="{81888E50-2B2C-4BC4-8DC5-C40B96459DF6}"/>
              </a:ext>
            </a:extLst>
          </p:cNvPr>
          <p:cNvSpPr txBox="1"/>
          <p:nvPr/>
        </p:nvSpPr>
        <p:spPr>
          <a:xfrm>
            <a:off x="5223354" y="4574033"/>
            <a:ext cx="6500600" cy="1169551"/>
          </a:xfrm>
          <a:prstGeom prst="rect">
            <a:avLst/>
          </a:prstGeom>
          <a:noFill/>
        </p:spPr>
        <p:txBody>
          <a:bodyPr wrap="square" rtlCol="0">
            <a:spAutoFit/>
          </a:bodyPr>
          <a:lstStyle/>
          <a:p>
            <a:r>
              <a:rPr lang="en-US" sz="1400" dirty="0"/>
              <a:t>In the Card Brand Distribution chart, Mastercard emerges as the most widely used card brand among clients, with 52.21% of users holding a Mastercard. Visa follows as the second most popular, representing 37.85% of the client base. On the other hand, Amex and Discover trail significantly behind, with only 6.54% and 3.4% of users, respectively.</a:t>
            </a:r>
          </a:p>
        </p:txBody>
      </p:sp>
    </p:spTree>
    <p:extLst>
      <p:ext uri="{BB962C8B-B14F-4D97-AF65-F5344CB8AC3E}">
        <p14:creationId xmlns:p14="http://schemas.microsoft.com/office/powerpoint/2010/main" val="35479593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1D45A3-23D0-4127-A71F-F56899894C07}"/>
              </a:ext>
            </a:extLst>
          </p:cNvPr>
          <p:cNvSpPr/>
          <p:nvPr/>
        </p:nvSpPr>
        <p:spPr>
          <a:xfrm>
            <a:off x="-19141" y="0"/>
            <a:ext cx="12098406" cy="6869225"/>
          </a:xfrm>
          <a:prstGeom prst="rect">
            <a:avLst/>
          </a:prstGeom>
          <a:solidFill>
            <a:schemeClr val="bg1">
              <a:alpha val="7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187BE937-0892-428B-9554-3465237D4642}"/>
              </a:ext>
            </a:extLst>
          </p:cNvPr>
          <p:cNvSpPr txBox="1"/>
          <p:nvPr/>
        </p:nvSpPr>
        <p:spPr>
          <a:xfrm>
            <a:off x="3427242" y="622626"/>
            <a:ext cx="5059397" cy="707886"/>
          </a:xfrm>
          <a:prstGeom prst="rect">
            <a:avLst/>
          </a:prstGeom>
          <a:noFill/>
        </p:spPr>
        <p:txBody>
          <a:bodyPr wrap="none" rtlCol="0">
            <a:spAutoFit/>
          </a:bodyPr>
          <a:lstStyle/>
          <a:p>
            <a:pPr algn="ctr"/>
            <a:r>
              <a:rPr lang="en-US" sz="4000" b="1" dirty="0"/>
              <a:t>RECOMMENDATION</a:t>
            </a:r>
          </a:p>
        </p:txBody>
      </p:sp>
      <p:pic>
        <p:nvPicPr>
          <p:cNvPr id="3" name="Picture 2">
            <a:extLst>
              <a:ext uri="{FF2B5EF4-FFF2-40B4-BE49-F238E27FC236}">
                <a16:creationId xmlns:a16="http://schemas.microsoft.com/office/drawing/2014/main" id="{371E8C02-AD26-4F1B-9A1A-1EB0A8650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41" y="-169277"/>
            <a:ext cx="2561573" cy="2907386"/>
          </a:xfrm>
          <a:prstGeom prst="rect">
            <a:avLst/>
          </a:prstGeom>
        </p:spPr>
      </p:pic>
      <p:grpSp>
        <p:nvGrpSpPr>
          <p:cNvPr id="13" name="Group 12">
            <a:extLst>
              <a:ext uri="{FF2B5EF4-FFF2-40B4-BE49-F238E27FC236}">
                <a16:creationId xmlns:a16="http://schemas.microsoft.com/office/drawing/2014/main" id="{BFEF7078-D856-4919-BDEB-9313BF4BCB18}"/>
              </a:ext>
            </a:extLst>
          </p:cNvPr>
          <p:cNvGrpSpPr/>
          <p:nvPr/>
        </p:nvGrpSpPr>
        <p:grpSpPr>
          <a:xfrm>
            <a:off x="2655167" y="1653558"/>
            <a:ext cx="8367737" cy="584775"/>
            <a:chOff x="2655167" y="1653558"/>
            <a:chExt cx="8367737" cy="584775"/>
          </a:xfrm>
        </p:grpSpPr>
        <p:sp>
          <p:nvSpPr>
            <p:cNvPr id="9" name="TextBox 8">
              <a:extLst>
                <a:ext uri="{FF2B5EF4-FFF2-40B4-BE49-F238E27FC236}">
                  <a16:creationId xmlns:a16="http://schemas.microsoft.com/office/drawing/2014/main" id="{AE076494-E868-4804-BB16-5A3830B2C38A}"/>
                </a:ext>
              </a:extLst>
            </p:cNvPr>
            <p:cNvSpPr txBox="1"/>
            <p:nvPr/>
          </p:nvSpPr>
          <p:spPr>
            <a:xfrm>
              <a:off x="3106455" y="1653558"/>
              <a:ext cx="7916449" cy="584775"/>
            </a:xfrm>
            <a:prstGeom prst="rect">
              <a:avLst/>
            </a:prstGeom>
            <a:noFill/>
          </p:spPr>
          <p:txBody>
            <a:bodyPr wrap="square" rtlCol="0">
              <a:spAutoFit/>
            </a:bodyPr>
            <a:lstStyle/>
            <a:p>
              <a:r>
                <a:rPr lang="en-US" sz="1600" dirty="0"/>
                <a:t>Adjust credit limits based on customer credit score, income, and transaction history to minimize risk.</a:t>
              </a:r>
              <a:endParaRPr lang="en-US" dirty="0"/>
            </a:p>
          </p:txBody>
        </p:sp>
        <p:pic>
          <p:nvPicPr>
            <p:cNvPr id="11" name="Picture 10">
              <a:extLst>
                <a:ext uri="{FF2B5EF4-FFF2-40B4-BE49-F238E27FC236}">
                  <a16:creationId xmlns:a16="http://schemas.microsoft.com/office/drawing/2014/main" id="{C7FABF87-B9BC-4E26-B4B9-205291C3EB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167" y="1776669"/>
              <a:ext cx="338554" cy="338554"/>
            </a:xfrm>
            <a:prstGeom prst="rect">
              <a:avLst/>
            </a:prstGeom>
          </p:spPr>
        </p:pic>
      </p:grpSp>
      <p:grpSp>
        <p:nvGrpSpPr>
          <p:cNvPr id="16" name="Group 15">
            <a:extLst>
              <a:ext uri="{FF2B5EF4-FFF2-40B4-BE49-F238E27FC236}">
                <a16:creationId xmlns:a16="http://schemas.microsoft.com/office/drawing/2014/main" id="{7CEAFB8D-8C10-49B9-A3DE-0E92DFA5C05F}"/>
              </a:ext>
            </a:extLst>
          </p:cNvPr>
          <p:cNvGrpSpPr/>
          <p:nvPr/>
        </p:nvGrpSpPr>
        <p:grpSpPr>
          <a:xfrm>
            <a:off x="2655167" y="2551021"/>
            <a:ext cx="8367737" cy="584775"/>
            <a:chOff x="2655167" y="1653558"/>
            <a:chExt cx="8367737" cy="584775"/>
          </a:xfrm>
        </p:grpSpPr>
        <p:sp>
          <p:nvSpPr>
            <p:cNvPr id="17" name="TextBox 16">
              <a:extLst>
                <a:ext uri="{FF2B5EF4-FFF2-40B4-BE49-F238E27FC236}">
                  <a16:creationId xmlns:a16="http://schemas.microsoft.com/office/drawing/2014/main" id="{1E78C45D-D0DA-411C-9A58-C6292B82CB81}"/>
                </a:ext>
              </a:extLst>
            </p:cNvPr>
            <p:cNvSpPr txBox="1"/>
            <p:nvPr/>
          </p:nvSpPr>
          <p:spPr>
            <a:xfrm>
              <a:off x="3106455" y="1653558"/>
              <a:ext cx="7916449" cy="584775"/>
            </a:xfrm>
            <a:prstGeom prst="rect">
              <a:avLst/>
            </a:prstGeom>
            <a:noFill/>
          </p:spPr>
          <p:txBody>
            <a:bodyPr wrap="square" rtlCol="0">
              <a:spAutoFit/>
            </a:bodyPr>
            <a:lstStyle/>
            <a:p>
              <a:r>
                <a:rPr lang="en-US" sz="1600" dirty="0"/>
                <a:t>Develop inclusive financial products such as no-fee savings accounts, small-scale credit lines, or micro-loans with flexible repayment terms. </a:t>
              </a:r>
            </a:p>
          </p:txBody>
        </p:sp>
        <p:pic>
          <p:nvPicPr>
            <p:cNvPr id="18" name="Picture 17">
              <a:extLst>
                <a:ext uri="{FF2B5EF4-FFF2-40B4-BE49-F238E27FC236}">
                  <a16:creationId xmlns:a16="http://schemas.microsoft.com/office/drawing/2014/main" id="{790D7020-3C1C-4FB6-B8B9-EBCA6F8EE8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167" y="1776669"/>
              <a:ext cx="338554" cy="338554"/>
            </a:xfrm>
            <a:prstGeom prst="rect">
              <a:avLst/>
            </a:prstGeom>
          </p:spPr>
        </p:pic>
      </p:grpSp>
      <p:grpSp>
        <p:nvGrpSpPr>
          <p:cNvPr id="26" name="Group 25">
            <a:extLst>
              <a:ext uri="{FF2B5EF4-FFF2-40B4-BE49-F238E27FC236}">
                <a16:creationId xmlns:a16="http://schemas.microsoft.com/office/drawing/2014/main" id="{1317F205-7993-4BAB-9A05-D4F043F863E3}"/>
              </a:ext>
            </a:extLst>
          </p:cNvPr>
          <p:cNvGrpSpPr/>
          <p:nvPr/>
        </p:nvGrpSpPr>
        <p:grpSpPr>
          <a:xfrm>
            <a:off x="2655167" y="3455063"/>
            <a:ext cx="8367737" cy="1077218"/>
            <a:chOff x="2655167" y="1653558"/>
            <a:chExt cx="8367737" cy="1077218"/>
          </a:xfrm>
        </p:grpSpPr>
        <p:sp>
          <p:nvSpPr>
            <p:cNvPr id="27" name="TextBox 26">
              <a:extLst>
                <a:ext uri="{FF2B5EF4-FFF2-40B4-BE49-F238E27FC236}">
                  <a16:creationId xmlns:a16="http://schemas.microsoft.com/office/drawing/2014/main" id="{D0D5EEC5-1568-4736-B49E-8FB9B8C4B80C}"/>
                </a:ext>
              </a:extLst>
            </p:cNvPr>
            <p:cNvSpPr txBox="1"/>
            <p:nvPr/>
          </p:nvSpPr>
          <p:spPr>
            <a:xfrm>
              <a:off x="3106455" y="1653558"/>
              <a:ext cx="7916449" cy="1077218"/>
            </a:xfrm>
            <a:prstGeom prst="rect">
              <a:avLst/>
            </a:prstGeom>
            <a:noFill/>
          </p:spPr>
          <p:txBody>
            <a:bodyPr wrap="square" rtlCol="0">
              <a:spAutoFit/>
            </a:bodyPr>
            <a:lstStyle/>
            <a:p>
              <a:r>
                <a:rPr lang="en-US" sz="1600" dirty="0"/>
                <a:t>Developing more inclusive and user-friendly digital platforms could help bridge the gap between the youth and elderly age group, while products targeting youth, such as beginner investment accounts or educational savings plans. Could further strengthen long-term client relationships.</a:t>
              </a:r>
            </a:p>
          </p:txBody>
        </p:sp>
        <p:pic>
          <p:nvPicPr>
            <p:cNvPr id="28" name="Picture 27">
              <a:extLst>
                <a:ext uri="{FF2B5EF4-FFF2-40B4-BE49-F238E27FC236}">
                  <a16:creationId xmlns:a16="http://schemas.microsoft.com/office/drawing/2014/main" id="{70B72A5F-4DDE-4955-94B1-65FCA42E8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167" y="1776669"/>
              <a:ext cx="338554" cy="338554"/>
            </a:xfrm>
            <a:prstGeom prst="rect">
              <a:avLst/>
            </a:prstGeom>
          </p:spPr>
        </p:pic>
      </p:grpSp>
      <p:grpSp>
        <p:nvGrpSpPr>
          <p:cNvPr id="29" name="Group 28">
            <a:extLst>
              <a:ext uri="{FF2B5EF4-FFF2-40B4-BE49-F238E27FC236}">
                <a16:creationId xmlns:a16="http://schemas.microsoft.com/office/drawing/2014/main" id="{6EAA3DBE-0CC2-4934-9620-6B31814BF229}"/>
              </a:ext>
            </a:extLst>
          </p:cNvPr>
          <p:cNvGrpSpPr/>
          <p:nvPr/>
        </p:nvGrpSpPr>
        <p:grpSpPr>
          <a:xfrm>
            <a:off x="2693881" y="4869800"/>
            <a:ext cx="8367737" cy="584775"/>
            <a:chOff x="2655167" y="1653558"/>
            <a:chExt cx="8367737" cy="584775"/>
          </a:xfrm>
        </p:grpSpPr>
        <p:sp>
          <p:nvSpPr>
            <p:cNvPr id="30" name="TextBox 29">
              <a:extLst>
                <a:ext uri="{FF2B5EF4-FFF2-40B4-BE49-F238E27FC236}">
                  <a16:creationId xmlns:a16="http://schemas.microsoft.com/office/drawing/2014/main" id="{D8808207-345C-4988-BF0E-DD0FE0F42734}"/>
                </a:ext>
              </a:extLst>
            </p:cNvPr>
            <p:cNvSpPr txBox="1"/>
            <p:nvPr/>
          </p:nvSpPr>
          <p:spPr>
            <a:xfrm>
              <a:off x="3106455" y="1653558"/>
              <a:ext cx="7916449" cy="584775"/>
            </a:xfrm>
            <a:prstGeom prst="rect">
              <a:avLst/>
            </a:prstGeom>
            <a:noFill/>
          </p:spPr>
          <p:txBody>
            <a:bodyPr wrap="square" rtlCol="0">
              <a:spAutoFit/>
            </a:bodyPr>
            <a:lstStyle/>
            <a:p>
              <a:r>
                <a:rPr lang="en-US" sz="1600" dirty="0"/>
                <a:t>Launch targeted seasonal campaigns offering points multipliers or cashbacks for Merchant like  travel and entertainment spends. </a:t>
              </a:r>
            </a:p>
          </p:txBody>
        </p:sp>
        <p:pic>
          <p:nvPicPr>
            <p:cNvPr id="31" name="Picture 30">
              <a:extLst>
                <a:ext uri="{FF2B5EF4-FFF2-40B4-BE49-F238E27FC236}">
                  <a16:creationId xmlns:a16="http://schemas.microsoft.com/office/drawing/2014/main" id="{286135D8-2509-44B9-80A0-4638C46E7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167" y="1776669"/>
              <a:ext cx="338554" cy="338554"/>
            </a:xfrm>
            <a:prstGeom prst="rect">
              <a:avLst/>
            </a:prstGeom>
          </p:spPr>
        </p:pic>
      </p:grpSp>
      <p:grpSp>
        <p:nvGrpSpPr>
          <p:cNvPr id="33" name="Group 32">
            <a:extLst>
              <a:ext uri="{FF2B5EF4-FFF2-40B4-BE49-F238E27FC236}">
                <a16:creationId xmlns:a16="http://schemas.microsoft.com/office/drawing/2014/main" id="{4CC4F79B-2B2F-4DCA-AEC5-ED1E4E5F0C68}"/>
              </a:ext>
            </a:extLst>
          </p:cNvPr>
          <p:cNvGrpSpPr/>
          <p:nvPr/>
        </p:nvGrpSpPr>
        <p:grpSpPr>
          <a:xfrm>
            <a:off x="2655167" y="5644153"/>
            <a:ext cx="8367737" cy="1077218"/>
            <a:chOff x="2655167" y="1653558"/>
            <a:chExt cx="8367737" cy="1077218"/>
          </a:xfrm>
        </p:grpSpPr>
        <p:sp>
          <p:nvSpPr>
            <p:cNvPr id="34" name="TextBox 33">
              <a:extLst>
                <a:ext uri="{FF2B5EF4-FFF2-40B4-BE49-F238E27FC236}">
                  <a16:creationId xmlns:a16="http://schemas.microsoft.com/office/drawing/2014/main" id="{B415C951-C3E5-4DB1-A623-FAC2B2005E90}"/>
                </a:ext>
              </a:extLst>
            </p:cNvPr>
            <p:cNvSpPr txBox="1"/>
            <p:nvPr/>
          </p:nvSpPr>
          <p:spPr>
            <a:xfrm>
              <a:off x="3106455" y="1653558"/>
              <a:ext cx="7916449" cy="1077218"/>
            </a:xfrm>
            <a:prstGeom prst="rect">
              <a:avLst/>
            </a:prstGeom>
            <a:noFill/>
          </p:spPr>
          <p:txBody>
            <a:bodyPr wrap="square" rtlCol="0">
              <a:spAutoFit/>
            </a:bodyPr>
            <a:lstStyle/>
            <a:p>
              <a:r>
                <a:rPr lang="en-US" sz="1600" dirty="0"/>
                <a:t>Interventions such as educational programs, debt restructuring options, and personalized financial planning could help shift clients toward better financial standing.</a:t>
              </a:r>
            </a:p>
            <a:p>
              <a:endParaRPr lang="en-US" sz="1600" dirty="0"/>
            </a:p>
          </p:txBody>
        </p:sp>
        <p:pic>
          <p:nvPicPr>
            <p:cNvPr id="35" name="Picture 34">
              <a:extLst>
                <a:ext uri="{FF2B5EF4-FFF2-40B4-BE49-F238E27FC236}">
                  <a16:creationId xmlns:a16="http://schemas.microsoft.com/office/drawing/2014/main" id="{2FD718D0-3382-4145-94E4-9EA8E49A96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167" y="1776669"/>
              <a:ext cx="338554" cy="338554"/>
            </a:xfrm>
            <a:prstGeom prst="rect">
              <a:avLst/>
            </a:prstGeom>
          </p:spPr>
        </p:pic>
      </p:grpSp>
    </p:spTree>
    <p:extLst>
      <p:ext uri="{BB962C8B-B14F-4D97-AF65-F5344CB8AC3E}">
        <p14:creationId xmlns:p14="http://schemas.microsoft.com/office/powerpoint/2010/main" val="40384938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B80E69-DF60-499D-8F2F-0DC958676CE0}"/>
              </a:ext>
            </a:extLst>
          </p:cNvPr>
          <p:cNvSpPr/>
          <p:nvPr/>
        </p:nvSpPr>
        <p:spPr>
          <a:xfrm>
            <a:off x="0" y="1227551"/>
            <a:ext cx="12192000" cy="56304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EBEE4-16AF-457C-9B6E-4AD5690FDBEB}"/>
              </a:ext>
            </a:extLst>
          </p:cNvPr>
          <p:cNvSpPr>
            <a:spLocks noGrp="1"/>
          </p:cNvSpPr>
          <p:nvPr>
            <p:ph type="title"/>
          </p:nvPr>
        </p:nvSpPr>
        <p:spPr>
          <a:xfrm>
            <a:off x="4204762" y="562469"/>
            <a:ext cx="3782476" cy="810990"/>
          </a:xfrm>
        </p:spPr>
        <p:txBody>
          <a:bodyPr/>
          <a:lstStyle/>
          <a:p>
            <a:pPr algn="ctr"/>
            <a:r>
              <a:rPr lang="en-US" b="1" dirty="0">
                <a:solidFill>
                  <a:schemeClr val="tx1"/>
                </a:solidFill>
              </a:rPr>
              <a:t>CONCLUSION</a:t>
            </a:r>
          </a:p>
        </p:txBody>
      </p:sp>
      <p:sp>
        <p:nvSpPr>
          <p:cNvPr id="3" name="TextBox 2">
            <a:extLst>
              <a:ext uri="{FF2B5EF4-FFF2-40B4-BE49-F238E27FC236}">
                <a16:creationId xmlns:a16="http://schemas.microsoft.com/office/drawing/2014/main" id="{7488F15A-4E96-456F-A121-3FB97434A06D}"/>
              </a:ext>
            </a:extLst>
          </p:cNvPr>
          <p:cNvSpPr txBox="1"/>
          <p:nvPr/>
        </p:nvSpPr>
        <p:spPr>
          <a:xfrm>
            <a:off x="1703540" y="1582340"/>
            <a:ext cx="8467594" cy="3693319"/>
          </a:xfrm>
          <a:prstGeom prst="rect">
            <a:avLst/>
          </a:prstGeom>
          <a:noFill/>
        </p:spPr>
        <p:txBody>
          <a:bodyPr wrap="square" rtlCol="0">
            <a:spAutoFit/>
          </a:bodyPr>
          <a:lstStyle/>
          <a:p>
            <a:r>
              <a:rPr lang="en-US" dirty="0"/>
              <a:t>In conclusion, from analyzing the dataset, it's clear that customer</a:t>
            </a:r>
          </a:p>
          <a:p>
            <a:r>
              <a:rPr lang="en-US" dirty="0"/>
              <a:t>behavior and transaction patterns are closely tied to credit risk and demographic factors. The data reveals opportunities for targeted marketing and personalized product offerings, particularly for customers with high credit scores and low debt. Conversely, high-risk customers with poor credit history and high debt levels require proactive risk management strategies. The dataset also highlights the importance of merchant partnerships and robust fraud detection measures. By leveraging these insights, organizations can optimize their operations, improve customer satisfaction, and drive business growth. Overall, the dataset provides a rich source of information for data-driven decision-making and strategic business planning. The findings can inform a range of business initiatives, from product development to risk management.</a:t>
            </a:r>
          </a:p>
        </p:txBody>
      </p:sp>
      <p:pic>
        <p:nvPicPr>
          <p:cNvPr id="6" name="Picture 5">
            <a:extLst>
              <a:ext uri="{FF2B5EF4-FFF2-40B4-BE49-F238E27FC236}">
                <a16:creationId xmlns:a16="http://schemas.microsoft.com/office/drawing/2014/main" id="{3EDF7290-B054-4195-94DE-79A86B039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3480" y="-110875"/>
            <a:ext cx="3607496" cy="2968668"/>
          </a:xfrm>
          <a:prstGeom prst="rect">
            <a:avLst/>
          </a:prstGeom>
        </p:spPr>
      </p:pic>
    </p:spTree>
    <p:extLst>
      <p:ext uri="{BB962C8B-B14F-4D97-AF65-F5344CB8AC3E}">
        <p14:creationId xmlns:p14="http://schemas.microsoft.com/office/powerpoint/2010/main" val="394541090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2E16E-9EC1-48DE-9270-28A24F495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1872" y="1017974"/>
            <a:ext cx="6350391" cy="4622103"/>
          </a:xfrm>
          <a:prstGeom prst="rect">
            <a:avLst/>
          </a:prstGeom>
        </p:spPr>
      </p:pic>
    </p:spTree>
    <p:extLst>
      <p:ext uri="{BB962C8B-B14F-4D97-AF65-F5344CB8AC3E}">
        <p14:creationId xmlns:p14="http://schemas.microsoft.com/office/powerpoint/2010/main" val="198373606"/>
      </p:ext>
    </p:extLst>
  </p:cSld>
  <p:clrMapOvr>
    <a:masterClrMapping/>
  </p:clrMapOvr>
  <p:transition spd="slow">
    <p:push dir="u"/>
  </p:transition>
</p:sld>
</file>

<file path=ppt/theme/theme1.xml><?xml version="1.0" encoding="utf-8"?>
<a:theme xmlns:a="http://schemas.openxmlformats.org/drawingml/2006/main" name="Wisp">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3517</TotalTime>
  <Words>1576</Words>
  <Application>Microsoft Office PowerPoint</Application>
  <PresentationFormat>Widescreen</PresentationFormat>
  <Paragraphs>56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Times New Roman</vt:lpstr>
      <vt:lpstr>Wingdings 3</vt:lpstr>
      <vt:lpstr>Wisp</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Admin</cp:lastModifiedBy>
  <cp:revision>48</cp:revision>
  <dcterms:created xsi:type="dcterms:W3CDTF">2025-04-10T13:00:05Z</dcterms:created>
  <dcterms:modified xsi:type="dcterms:W3CDTF">2026-02-22T22:33:28Z</dcterms:modified>
</cp:coreProperties>
</file>